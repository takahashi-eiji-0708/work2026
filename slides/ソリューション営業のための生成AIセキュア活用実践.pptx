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728" r:id="rId4"/>
  </p:sldMasterIdLst>
  <p:notesMasterIdLst>
    <p:notesMasterId r:id="rId23"/>
  </p:notesMasterIdLst>
  <p:sldIdLst>
    <p:sldId id="301" r:id="rIdS1"/>
    <p:sldId id="302" r:id="rIdS2"/>
    <p:sldId id="303" r:id="rIdS3"/>
    <p:sldId id="304" r:id="rIdS4"/>
    <p:sldId id="305" r:id="rIdS5"/>
    <p:sldId id="306" r:id="rIdS6"/>
    <p:sldId id="307" r:id="rIdS7"/>
    <p:sldId id="308" r:id="rIdS8"/>
    <p:sldId id="309" r:id="rIdS9"/>
    <p:sldId id="310" r:id="rIdS10"/>
    <p:sldId id="311" r:id="rIdS11"/>
    <p:sldId id="312" r:id="rIdS12"/>
    <p:sldId id="313" r:id="rIdS13"/>
    <p:sldId id="314" r:id="rIdS14"/>
    <p:sldId id="315" r:id="rIdS15"/>
    <p:sldId id="316" r:id="rIdS16"/>
    <p:sldId id="317" r:id="rIdS17"/>
    <p:sldId id="318" r:id="rIdS18"/>
    <p:sldId id="319" r:id="rIdS19"/>
    <p:sldId id="320" r:id="rIdS20"/>
  </p:sldIdLst>
  <p:sldSz cx="9906000" cy="6858000" type="A4"/>
  <p:notesSz cx="6845300" cy="997108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320" userDrawn="1">
          <p15:clr>
            <a:srgbClr val="A4A3A4"/>
          </p15:clr>
        </p15:guide>
        <p15:guide id="4" orient="horz" pos="618" userDrawn="1">
          <p15:clr>
            <a:srgbClr val="A4A3A4"/>
          </p15:clr>
        </p15:guide>
        <p15:guide id="5" pos="1056" userDrawn="1">
          <p15:clr>
            <a:srgbClr val="A4A3A4"/>
          </p15:clr>
        </p15:guide>
        <p15:guide id="6" pos="5978" userDrawn="1">
          <p15:clr>
            <a:srgbClr val="A4A3A4"/>
          </p15:clr>
        </p15:guide>
        <p15:guide id="7" pos="1895" userDrawn="1">
          <p15:clr>
            <a:srgbClr val="A4A3A4"/>
          </p15:clr>
        </p15:guide>
        <p15:guide id="8" orient="horz" pos="9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7ACC"/>
    <a:srgbClr val="E2EFDA"/>
    <a:srgbClr val="0079C2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E25E649-3F16-4E02-A733-19D2CDBF48F0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淡色スタイル 3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660B408-B3CF-4A94-85FC-2B1E0A45F4A2}" styleName="濃色スタイル 2 - アクセント 1/アクセント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中間スタイル 4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A111915-BE36-4E01-A7E5-04B1672EAD32}" styleName="淡色スタイル 2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4C1A8A3-306A-4EB7-A6B1-4F7E0EB9C5D6}" styleName="中間スタイル 3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淡色スタイル 1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822" y="96"/>
      </p:cViewPr>
      <p:guideLst>
        <p:guide orient="horz" pos="2160"/>
        <p:guide pos="3120"/>
        <p:guide pos="320"/>
        <p:guide orient="horz" pos="618"/>
        <p:guide pos="1056"/>
        <p:guide pos="5978"/>
        <p:guide pos="1895"/>
        <p:guide orient="horz" pos="9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27" Type="http://schemas.openxmlformats.org/officeDocument/2006/relationships/tableStyles" Target="tableStyle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Relationship Id="rIdS16" Type="http://schemas.openxmlformats.org/officeDocument/2006/relationships/slide" Target="slides/slide16.xml"/><Relationship Id="rIdS17" Type="http://schemas.openxmlformats.org/officeDocument/2006/relationships/slide" Target="slides/slide17.xml"/><Relationship Id="rIdS18" Type="http://schemas.openxmlformats.org/officeDocument/2006/relationships/slide" Target="slides/slide18.xml"/><Relationship Id="rIdS19" Type="http://schemas.openxmlformats.org/officeDocument/2006/relationships/slide" Target="slides/slide19.xml"/><Relationship Id="rIdS20" Type="http://schemas.openxmlformats.org/officeDocument/2006/relationships/slide" Target="slides/slide2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77419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r">
              <a:defRPr sz="1200"/>
            </a:lvl1pPr>
          </a:lstStyle>
          <a:p>
            <a:fld id="{A02D6AF2-699B-42AB-9AA6-5F448F6BF813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720725" y="747713"/>
            <a:ext cx="5403850" cy="3740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20" tIns="46310" rIns="92620" bIns="4631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4531" y="4736268"/>
            <a:ext cx="5476240" cy="4486990"/>
          </a:xfrm>
          <a:prstGeom prst="rect">
            <a:avLst/>
          </a:prstGeom>
        </p:spPr>
        <p:txBody>
          <a:bodyPr vert="horz" lIns="92620" tIns="46310" rIns="92620" bIns="4631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77419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r">
              <a:defRPr sz="1200"/>
            </a:lvl1pPr>
          </a:lstStyle>
          <a:p>
            <a:fld id="{B728FA52-5C2C-41C8-9A98-666EAD66D4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6788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 descr="\\Gfp10\黒島_制作\s_SEデザイン\edifist\pptテンプレート制作\スライス\表紙_ライン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3240" y="2630488"/>
            <a:ext cx="3281363" cy="3390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7373" y="260649"/>
            <a:ext cx="1365246" cy="228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272480" y="2564913"/>
            <a:ext cx="7644849" cy="866527"/>
          </a:xfrm>
        </p:spPr>
        <p:txBody>
          <a:bodyPr>
            <a:normAutofit/>
          </a:bodyPr>
          <a:lstStyle>
            <a:lvl1pPr algn="l">
              <a:defRPr sz="3000">
                <a:solidFill>
                  <a:srgbClr val="0078C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272480" y="3472544"/>
            <a:ext cx="6934200" cy="175260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387900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85365" y="1949490"/>
            <a:ext cx="9517057" cy="792088"/>
          </a:xfrm>
          <a:blipFill>
            <a:blip r:embed="rId3" cstate="print"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defRPr sz="2600" b="1" cap="all"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94476" y="3005898"/>
            <a:ext cx="9517057" cy="810319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E51B9341-B260-4715-951A-E21832254E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71887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E3775C3-C297-4870-9654-79FE6708075B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40788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D92606F-8A3E-4501-B43D-E196D33466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681789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5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B9A458F-255A-4455-AF16-827E73C709F2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26159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293F52-5C6E-411E-8BA7-D01B50DD7654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17516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80F5BC0D-3915-4E92-A65F-5F53EE902169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807504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AF54FDE-D10D-4D4A-8EAC-AAB362AADBE8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385679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最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569703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大分類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98AEC1-D56D-4105-931F-5C397871EF8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テキスト プレースホルダ 3"/>
          <p:cNvSpPr>
            <a:spLocks noGrp="1"/>
          </p:cNvSpPr>
          <p:nvPr>
            <p:ph type="body" sz="half" idx="12"/>
          </p:nvPr>
        </p:nvSpPr>
        <p:spPr>
          <a:xfrm>
            <a:off x="3152775" y="549277"/>
            <a:ext cx="6300788" cy="503461"/>
          </a:xfrm>
        </p:spPr>
        <p:txBody>
          <a:bodyPr lIns="0" rIns="0"/>
          <a:lstStyle>
            <a:lvl1pPr marL="0" indent="0">
              <a:buNone/>
              <a:defRPr sz="2000" b="1" u="none" baseline="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6" name="タイトル 5"/>
          <p:cNvSpPr>
            <a:spLocks noGrp="1"/>
          </p:cNvSpPr>
          <p:nvPr>
            <p:ph type="title"/>
          </p:nvPr>
        </p:nvSpPr>
        <p:spPr>
          <a:xfrm>
            <a:off x="381001" y="543264"/>
            <a:ext cx="2411412" cy="1985624"/>
          </a:xfrm>
          <a:solidFill>
            <a:schemeClr val="accent1"/>
          </a:solidFill>
          <a:ln>
            <a:noFill/>
          </a:ln>
          <a:effectLst/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>
            <a:lvl1pPr algn="ctr">
              <a:defRPr lang="ja-JP" altLang="en-US" sz="2400">
                <a:solidFill>
                  <a:schemeClr val="bg1"/>
                </a:solidFill>
              </a:defRPr>
            </a:lvl1pPr>
          </a:lstStyle>
          <a:p>
            <a:pPr lvl="0" algn="ctr"/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227655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2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ー 1"/>
          <p:cNvSpPr>
            <a:spLocks noGrp="1"/>
          </p:cNvSpPr>
          <p:nvPr>
            <p:ph type="title"/>
          </p:nvPr>
        </p:nvSpPr>
        <p:spPr bwMode="auto">
          <a:xfrm>
            <a:off x="271727" y="104777"/>
            <a:ext cx="8659152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1027" name="テキスト プレースホルダー 2"/>
          <p:cNvSpPr>
            <a:spLocks noGrp="1"/>
          </p:cNvSpPr>
          <p:nvPr>
            <p:ph type="body" idx="1"/>
          </p:nvPr>
        </p:nvSpPr>
        <p:spPr bwMode="auto">
          <a:xfrm>
            <a:off x="271727" y="908050"/>
            <a:ext cx="9362546" cy="554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286409" y="6502409"/>
            <a:ext cx="4213490" cy="3206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>
                <a:solidFill>
                  <a:srgbClr val="0078C1"/>
                </a:solidFill>
                <a:latin typeface="Segoe UI Semibold" panose="020B0702040204020203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7687474" y="6480184"/>
            <a:ext cx="2101585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rgbClr val="0078C1"/>
                </a:solidFill>
                <a:latin typeface="Segoe UI" panose="020B0502040204020203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9ECA16F-5FE8-45FD-A900-C8FEF369676D}" type="slidenum">
              <a:rPr lang="ja-JP" altLang="en-US">
                <a:cs typeface="メイリオ" panose="020B0604030504040204" pitchFamily="50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ja-JP" altLang="en-US"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90231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48" r:id="rId10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b="1" kern="1200">
          <a:solidFill>
            <a:schemeClr val="bg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»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ソリューション営業のための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生成AIセキュア活用実践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× Office で提案活動を体験する2日間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目次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Body 11"/>
          <p:cNvSpPr>
            <a:spLocks noGrp="1"/>
          </p:cNvSpPr>
          <p:nvPr>
            <p:ph idx="1"/>
          </p:nvPr>
        </p:nvSpPr>
        <p:spPr>
          <a:xfrm>
            <a:off x="330000" y="1150000"/>
            <a:ext cx="5900000" cy="4010000"/>
          </a:xfrm>
        </p:spPr>
        <p:txBody>
          <a:bodyPr>
            <a:noAutofit/>
          </a:bodyPr>
          <a:lstStyle/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生成AIの進化と現状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の基本操作とプロンプト設計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セキュアに使うための留意点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Copilot：商談準備と議事録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商談後フォロー：メール・社内報告・行動管理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Excel × Copilot：分析と見積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Copilot：提案書の作成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 × Copilot：提案スライド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 ELI Sales Assist の紹介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営業業務への応用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6350000" y="1190000"/>
            <a:ext cx="200000" cy="2968000"/>
          </a:xfrm>
          <a:prstGeom prst="rightBrace">
            <a:avLst/>
          </a:prstGeom>
          <a:noFill/>
          <a:ln w="19050">
            <a:solidFill>
              <a:srgbClr val="0078C8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680000" y="2293000"/>
            <a:ext cx="2890000" cy="762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　約3/4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基礎・セキュリティ・Office連携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6350000" y="4238000"/>
            <a:ext cx="200000" cy="682000"/>
          </a:xfrm>
          <a:prstGeom prst="rightBrace">
            <a:avLst/>
          </a:prstGeom>
          <a:noFill/>
          <a:ln w="19050">
            <a:solidFill>
              <a:srgbClr val="E8710A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80000" y="4198000"/>
            <a:ext cx="2890000" cy="762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　約1/4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自社アプリ紹介と業務への応用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550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Day 1：第1章〜第5章　／　Day 2：第6章〜第10章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オリエンテーション：研修のゴールと進め方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この研修のゴール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30000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150000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安全に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530000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入力してよい情報を判断し、マスキングとファクトチェックを習慣にする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488666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688666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308666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成果物まで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688666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議事録・見積・提案書・スライドを、Copilot と一緒に最後まで仕上げる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647333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6847333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7467333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自分の業務で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6847333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自社アプリの例をヒントに、自分の営業業務への応用プランを作る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330000" y="356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進め方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3950000"/>
            <a:ext cx="3182000" cy="8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短い講義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仕組みとルールを押さえる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62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演習で体感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みらい商事への提案を進める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6394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振り返り・共有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3名の結果の違いから学ぶ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演習は全体の約6割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488666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受講者3名・講師が画面を見て個別に支援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6647333" y="5050000"/>
            <a:ext cx="2928666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データはすべて架空。実際の顧客情報は入力しない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研修ストーリー：ELIソリューションズの営業として提案する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2600000" cy="76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ELIソリューションズ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 高橋（あなた）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030000" y="1120000"/>
            <a:ext cx="1150000" cy="58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4280000" y="1030000"/>
            <a:ext cx="5296000" cy="7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みらい商事株式会社（架空・東京都・全社約300名）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人材開発 佐藤様・営業企画 田中様「生成AIの利用状況に差がある」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880000"/>
            <a:ext cx="18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対象：法人営業20名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2230000" y="1880000"/>
            <a:ext cx="24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 60万円／B案 100万円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730000" y="1880000"/>
            <a:ext cx="2270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予算目安100万円（承認前）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7080000" y="1880000"/>
            <a:ext cx="2416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利用可否・承認者などは未確定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330000" y="2360000"/>
          <a:ext cx="9246000" cy="3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4300000"/>
                <a:gridCol w="2700000"/>
                <a:gridCol w="1446000"/>
              </a:tblGrid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STEP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やること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顧客と業界を調べる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アプリ（Web検索）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入力してはいけない情報を取り除く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ヒアリングシートを作る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商談の文字起こしから議事録を作る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議事録送付メール・社内報告・確認事項の一覧を作る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アプリ／Word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演習7・8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過去の研修実績を分析する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A案・B案の見積を試算する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A案・B案の提案書と上長説明用の1枚を書く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上長説明用の1枚と提案スライドを作る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PowerPoint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自分の業務への応用を考える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Word／Codex（任意）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演習13・14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2日間のタイムテーブル（各日 9:30〜17:00）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1　生成AIの基礎と商談前後の活用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330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9:30–9:50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オリエンテーション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9:50–10:40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第1章 生成AIの進化と現状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10:50–12:00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第2章 基本操作とプロンプト（演習1〜3）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13:00–14:00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 セキュアに使う（演習4）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14:10–15:30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第4章 Word：議事録ほか（演習5・6）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15:40–16:40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第5章 商談後フォロー（演習7・8）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16:40–17:00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振り返り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3" name="Shape 13"/>
          <p:cNvSpPr txBox="1"/>
          <p:nvPr/>
        </p:nvSpPr>
        <p:spPr>
          <a:xfrm>
            <a:off x="5053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2　分析・提案書作成と業務への応用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5053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の復習・セキュリティクイズ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9:45–11:05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第6章 Excel：分析・見積（演習9・10）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11:15–12:00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第7章 Word：提案書（演習11）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13:00–13:45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第8章 PowerPoint：提案スライド（演習12）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13:45–14:30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第9章 ELI Sales Assist の紹介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14:40–16:20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業務への応用（演習13・14）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16:20–17:00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発表・まとめ・理解度テスト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700000"/>
            <a:ext cx="260000" cy="260000"/>
          </a:xfrm>
          <a:prstGeom prst="rect">
            <a:avLst/>
          </a:prstGeom>
          <a:solidFill>
            <a:srgbClr val="F2F7F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670000" y="5690000"/>
            <a:ext cx="43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パートA：基礎・セキュリティ・Office連携（約3/4）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080000" y="5700000"/>
            <a:ext cx="260000" cy="260000"/>
          </a:xfrm>
          <a:prstGeom prst="rect">
            <a:avLst/>
          </a:prstGeom>
          <a:solidFill>
            <a:srgbClr val="FDEBD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420000" y="5690000"/>
            <a:ext cx="415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パートB：自社アプリ紹介と業務への応用（約1/4）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30000" y="6040000"/>
            <a:ext cx="924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各コマの間に10分の休憩があります。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１．生成AIの進化と現状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1.1 AIの歩み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3300000"/>
                <a:gridCol w="4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1950〜60年代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第1次AIブーム（探索・推論）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パズルや迷路は解けるが、現実の問題には使えなかった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1980年代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第2次AIブーム（エキスパートシステム）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専門家の知識をルールとして書き込む。ルールの作成・保守が限界に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2000年代〜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第3次AIブーム（機械学習・深層学習）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データから規則性を自動で学ぶ。画像認識の精度が急速に向上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2017年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Transformer の発表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単語同士の関係をまとめて捉える仕組み。今の生成AIの土台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2022年11月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ChatGPT の公開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誰でも会話で使える生成AIが登場し、利用者が爆発的に増える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2023年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マルチモーダル化・業務ツールへの組み込み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画像も理解。Microsoft 365 に Copilot が組み込まれ始める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2024年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推論モデルの登場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答える前に「考える」時間を取り、複雑な問題の正答率が向上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2025年〜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エージェントの普及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調べる・資料を作る・コードを書くなど、複数の手順を自律的に進める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50000"/>
            <a:ext cx="9246000" cy="138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現在（2026年）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生成AIは「質問に答える道具」から「仕事の一部を任せられる同僚」に近づいている。Word・Excel・PowerPoint の中から直接AIを呼び出せるようになった一方で、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AIに渡す情報と、AIが作ったものの正しさに対する人間の責任は、むしろ重くなっている。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1.2 大規模言語モデル（LLM）の仕組み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9246000" cy="62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LLM ＝ それまでの文章に続く </a:t>
            </a:r>
            <a:r>
              <a:rPr lang="ja-JP" altLang="en-US" sz="17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「もっともらしい次の言葉」</a:t>
            </a: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 を予測し続けるプログラム</a:t>
            </a:r>
            <a:endParaRPr lang="ja-JP" altLang="en-US" sz="1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2250000"/>
            <a:ext cx="3000000" cy="13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C8"/>
            </a:solidFill>
          </a:ln>
        </p:spPr>
        <p:txBody>
          <a:bodyPr wrap="square" lIns="180000" tIns="91440" rIns="18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入力（それまでの文章）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「お打ち合わせのお時間をいただき、誠に」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50000" y="26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4230000" y="1850000"/>
            <a:ext cx="53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次の言葉の候補と確率（イメージ）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4230000" y="223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ありがとう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430000" y="2270000"/>
            <a:ext cx="2706000" cy="250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216000" y="223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82%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230000" y="262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感謝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5430000" y="2660000"/>
            <a:ext cx="297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5807000" y="262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9%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4230000" y="301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恐縮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430000" y="3050000"/>
            <a:ext cx="132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5642000" y="301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4%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4230000" y="340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申し訳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5430000" y="3440000"/>
            <a:ext cx="66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576000" y="340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4230000" y="379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その他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5430000" y="3830000"/>
            <a:ext cx="99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5609000" y="379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3%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4480000"/>
            <a:ext cx="2401500" cy="6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① 文章を読む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2611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② 確率を計算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48930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③ 1語を選ぶ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/>
          <p:nvPr/>
        </p:nvSpPr>
        <p:spPr>
          <a:xfrm>
            <a:off x="7174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④ 加えて繰り返す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330000" y="5300000"/>
            <a:ext cx="9246000" cy="8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この仕組みから、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「毎回答えが変わる」「もっともらしい誤りをつくる」「計算が苦手」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といった性質が生まれる（次ページ）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1.2 LLMの性質と業務への影響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2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550000"/>
                <a:gridCol w="4696000"/>
              </a:tblGrid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性質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業務への影響・対応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同じ質問でも毎回答えが少し変わる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気に入らなければ再生成。同じ結果の再現は保証されない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もっともらしい嘘をつくことがある（ハルシネーション）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数字・固有名詞・日付・出典は必ず確認する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学習した時点以降の情報を知らない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最新情報は Web 検索機能を使い、出典を確認する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指示（プロンプト）の質で結果が大きく変わる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目的・前提・出力形式をはっきり伝える（第2章）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計算や厳密な集計は苦手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計算は Excel の数式に任せ、AIには数式を作らせる（第6章）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80000"/>
            <a:ext cx="5700000" cy="1650000"/>
          </a:xfrm>
          <a:prstGeom prst="roundRect">
            <a:avLst>
              <a:gd name="adj" fmla="val 6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営業での原則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AIは「下書き担当」「壁打ち相手」。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最終確認と判断は、必ず人が行う。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230000" y="4480000"/>
            <a:ext cx="3346000" cy="16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1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必ず確認する4つ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固有名詞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日付・曜日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ミニ演習：同じ質問を聞き比べる（約5分）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1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アプリで新しいチャットを開き、質問Aを入力する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20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010000" y="20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隣の人と答えを見比べる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8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8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「再生成」して、もう一度比べる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7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37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言い回しを変えた質問Bを入力し、答えの変化を見る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5130000" y="108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130000" y="1420000"/>
            <a:ext cx="4446000" cy="62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営業の仕事で一番大切なことは？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5130000" y="223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質問B（言い回しを変える）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130000" y="2570000"/>
            <a:ext cx="4446000" cy="115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法人向け研修の営業担当者が成果を出すために最も重要なことを1つ、理由とともに教えてください。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4700000"/>
            <a:ext cx="9246000" cy="14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考えるポイント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なぜ同じ質問でも答えが変わるのか？（→ 1.2 の仕組み）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質問Aと質問B、仕事で使いやすい答えはどちらか？ 何が違ったか？（→ 第2章 プロンプトの4要素）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1.3 生成AIの得意・不得意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3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623000"/>
                <a:gridCol w="4623000"/>
              </a:tblGrid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得意なこと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苦手なこと・注意が必要なこと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8710A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文章の下書き・言い換え・要約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正確な事実の保証（特に数字・固有名詞）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アイデア出し・観点の洗い出し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最新の出来事（検索機能なしの場合）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文章の構造化（箇条書き・表への変換）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厳密な計算・大量データの正確な集計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トーンの調整（丁寧・簡潔・説得的）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顧客との関係性や社内事情をふまえた判断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数式・コードの作成と説明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責任を伴う最終判断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46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営業での使い分け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5020000"/>
            <a:ext cx="3182000" cy="900000"/>
          </a:xfrm>
          <a:prstGeom prst="homePlate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AIに任せる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下書き・要約・構造化・言い換え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62000" y="5020000"/>
            <a:ext cx="3182000" cy="90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人が確認する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数字・固有名詞・日付・出典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394000" y="5020000"/>
            <a:ext cx="3182000" cy="900000"/>
          </a:xfrm>
          <a:prstGeom prst="chevron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人が決める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判断・約束・社外への送信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1.4 Microsoft Copilot の全体像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使う場所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00000"/>
            <a:ext cx="4508000" cy="15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Web・Windows・スマートフォン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チャット形式で質問・調査・文章作成。Web 検索や、ファイル・画像の添付もできる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400000"/>
            <a:ext cx="4508000" cy="15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アプリの中の Copilot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Word・Excel・PowerPoint・Outlook など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開いているファイルを対象に、下書き・要約・分析・スライド作成などを行う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312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契約の種類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330000" y="3490000"/>
          <a:ext cx="9246000" cy="19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500000"/>
                <a:gridCol w="3400000"/>
                <a:gridCol w="2346000"/>
              </a:tblGrid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契約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主な対象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本研修での扱い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Personal／Family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個人・家族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Premium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個人・家族（高い利用上限と高度な機能）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本研修で使用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Copilot（法人向け）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企業・組織（職場アカウント）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第3章で違いを比較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6" name="Shape 16"/>
          <p:cNvSpPr txBox="1"/>
          <p:nvPr/>
        </p:nvSpPr>
        <p:spPr>
          <a:xfrm>
            <a:off x="330000" y="55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機能名・プラン構成は変更されることがあります（2026年9月時点の情報）。当日の画面に合わせて読み替えてください。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1.4 Microsoft 365 Premium でできること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50000" y="15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文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330000" y="13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アプリの Copilot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330000" y="17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Word・Excel・PowerPoint・Outlook で、下書き・要約・分析・スライド作成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88000" y="15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問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6068000" y="13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6068000" y="17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Web 検索つきのチャット、ファイルの添付、じっくり考えるモード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6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50000" y="31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調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330000" y="29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深い調査・分析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330000" y="33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Researcher・Analyst など（提供状況は当日講師が確認）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6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88000" y="31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量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6068000" y="29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高い利用上限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6068000" y="33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Personal／Family より多く使える（上限の詳細は変わることがある）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400000"/>
            <a:ext cx="9246000" cy="1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5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ポイント：Premium は「個人向け」の契約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会社の業務データ（顧客情報・社内情報）を扱ってよいかは、契約とデータ保護の内容、そして会社のルールで決まる。本研修では </a:t>
            </a: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架空のデータだけ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を使い、考え方は第3章で学ぶ。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1.5 ソリューション営業のどこで使えるか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945200" cy="5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事前準備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21552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9804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8056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提案準備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6308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6BB0E3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受注後・フォロー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6" name="Table 16"/>
          <p:cNvGraphicFramePr>
            <a:graphicFrameLocks noGrp="1"/>
          </p:cNvGraphicFramePr>
          <p:nvPr/>
        </p:nvGraphicFramePr>
        <p:xfrm>
          <a:off x="330000" y="1750000"/>
          <a:ext cx="9246000" cy="40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00000"/>
                <a:gridCol w="6146000"/>
                <a:gridCol w="14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プロセス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の使いどころ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事前準備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業界動向・公開情報の調査、仮説づくり、ヒアリング項目の洗い出し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演習3・5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商談中は相手との会話に集中。録画・文字起こしは相手の了解を得て行う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（例：初回訪問の冒頭で「Zoomの録画と文字起こしを残します」と伝えている）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商談後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議事録、議事録送付メール、社内報告、Next Action と確認事項の整理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演習6・7・8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提案準備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実績データの分析、概算見積、提案書（A案・B案）・上長説明用の1枚・スライド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演習9〜12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受注後・フォロー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実施報告、アンケート分析、次の提案の種探し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演習9（応用）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２．Copilot の基本操作とプロンプト設計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2.1 Copilot アプリの基本操作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1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600000"/>
                <a:gridCol w="6646000"/>
              </a:tblGrid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操作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説明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新しいチャット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話題が変わったら新しいチャットを始める（前の会話の影響を受けないように）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質問や指示を入力する。Shift＋Enter で改行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応答モードの切り替え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素早く答えるモードと、じっくり考えて答えるモードがある（名称は画面で確認）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Web 検索と出典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最新情報を検索して答える。</a:t>
                      </a: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回答内の出典リンクを必ず開いて確認する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ファイル・画像の添付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ファイルを読み込ませて質問できる。</a:t>
                      </a: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添付してよい情報かを先に判断する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コピー・再生成・評価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回答のコピー、別の回答の生成、良し悪しのフィードバック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履歴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過去のチャットを開き直す・削除する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320000"/>
            <a:ext cx="9246000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オレンジの2つはセキュリティに直結する操作。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出典の確認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 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添付前の判断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は第3章でくわしく扱う。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2.2 Office アプリで Copilot を使う前提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30000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自動保存をオンにする。ローカル保存のままだと使えない場合がある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88666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688666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288666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サインイン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3688666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に、Premium の Microsoft アカウントでサインインしている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647333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47333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7447333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を呼び出す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6847333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リボンの Copilot ボタン、または文書内の Copilot アイコンから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306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本研修で使うアプリと主な使い方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330000" y="3450000"/>
            <a:ext cx="1700000" cy="4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Word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2180000" y="345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ヒアリングシート、議事録、議事録送付メール、提案書（第4・5・7章）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0000" y="4010000"/>
            <a:ext cx="1700000" cy="460000"/>
          </a:xfrm>
          <a:prstGeom prst="roundRect">
            <a:avLst/>
          </a:prstGeom>
          <a:solidFill>
            <a:srgbClr val="2E8B5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Excel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2180000" y="401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研修実績データの分析、A案・B案の概算見積（第6章）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4570000"/>
            <a:ext cx="1700000" cy="4600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2180000" y="457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上長説明用の1枚、提案スライド（第8章）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5150000"/>
            <a:ext cx="9246000" cy="9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ボタンが押せないときは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に保存されているか → 自動保存がオンか → サインインしているアカウント → （Excel）データがテーブルになっているか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2.3 伝わるプロンプトの4要素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4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00000"/>
                <a:gridCol w="3000000"/>
                <a:gridCol w="45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要素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AIにどの立場で考えてほしいか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あなたは法人向け研修の提案に詳しい営業コンサルタントです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何のために、何を作ってほしいか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初回訪問で聞くべき質問を洗い出したい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前提・制約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背景、相手、条件、してほしくないこと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顧客は商社の人材開発担当者。所要時間は60分。予算と決裁の進め方の質問は最後に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出力形式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形式・分量・構成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目的別に5つの分類で、各3問、表形式で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700000"/>
            <a:ext cx="9246000" cy="13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Microsoft の推奨も同じ考え方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目的（Goal）・背景（Context）・情報源（Source）・期待（Expectations）の4つを伝える。言い方は違っても、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「何のために・どんな前提で・何を見て・どんな形で」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を伝えることが大切。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2.3 悪い例と良い例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500000" cy="49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22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ja-JP" altLang="en-US" sz="15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× 悪い例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ja-JP" altLang="en-US" sz="15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研修の提案書を書いて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足りないもの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誰の立場で？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何のために？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どんな前提で？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どんな形で？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結果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誰にでも当てはまる一般論の長文が返り、結局ほとんど書き直すことになる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3030000" y="1080000"/>
            <a:ext cx="65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○ 良い例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030000" y="1520000"/>
            <a:ext cx="1150000" cy="53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役割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280000" y="1520000"/>
            <a:ext cx="5296000" cy="53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あなたは法人研修の提案経験が豊富な営業担当者です。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030000" y="2140000"/>
            <a:ext cx="1150000" cy="81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目的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280000" y="2140000"/>
            <a:ext cx="5296000" cy="81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法人営業向け生成AI研修の提案書のうち、「課題認識」（お客様の課題を整理する部分）の文章を作りたいです。読み手は商社の人材開発担当者です。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030000" y="3040000"/>
            <a:ext cx="1150000" cy="12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前提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4280000" y="3040000"/>
            <a:ext cx="5296000" cy="126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ヒアリングで分かった課題は3点：①生成AIの利用状況に個人差が大きい　②提案資料と議事録の作成に時間がかかっている　③顧客情報を入力してよいのか不安が大きい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030000" y="4390000"/>
            <a:ext cx="1150000" cy="81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出力形式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4280000" y="4390000"/>
            <a:ext cx="5296000" cy="81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顧客の言葉を活かし、各課題を2〜3文で。見出しつきの箇条書きで、全体で400字程度。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3030000" y="5350000"/>
            <a:ext cx="65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社名・氏名は入れていない（入力してよい情報の判断は第3章）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2.4 対話で結果を良くする6つのコツ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10000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90000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一度で完璧を求めない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10000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まず出させてから「もっと短く」「表にして」と直す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78666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658666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238666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例を見せる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3658666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「この書き方を参考に」と見本を貼る（見本に機密情報がないか確認）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627333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07333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7387333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分けて頼む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6807333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「構成案 → 確認 → 本文」の順に進める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10000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1090000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評価の観点を与える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10000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「顧客の立場で読んで、分かりにくい点を3つ指摘して」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478666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658666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4238666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分からないと言わせる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 txBox="1"/>
          <p:nvPr/>
        </p:nvSpPr>
        <p:spPr>
          <a:xfrm>
            <a:off x="3658666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「根拠がない場合は“不明”と書いてください」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6627333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6807333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 txBox="1"/>
          <p:nvPr/>
        </p:nvSpPr>
        <p:spPr>
          <a:xfrm>
            <a:off x="7387333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確認させる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 txBox="1"/>
          <p:nvPr/>
        </p:nvSpPr>
        <p:spPr>
          <a:xfrm>
            <a:off x="6807333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「今の回答で事実確認が必要な箇所を挙げてください」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5" name="Shape 35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基本の流れ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まず出させる → 足りない点を追加で指示する → 事実確認が必要な箇所を挙げさせる → 人が最終確認する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会話が長くなって話がずれてきたら、要点をまとめて新しいチャットで始め直す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ifist_template_4x3">
  <a:themeElements>
    <a:clrScheme name="Edifist Learning PPT">
      <a:dk1>
        <a:srgbClr val="000000"/>
      </a:dk1>
      <a:lt1>
        <a:srgbClr val="FFFFFF"/>
      </a:lt1>
      <a:dk2>
        <a:srgbClr val="0078C1"/>
      </a:dk2>
      <a:lt2>
        <a:srgbClr val="FFFFFF"/>
      </a:lt2>
      <a:accent1>
        <a:srgbClr val="B4E2FF"/>
      </a:accent1>
      <a:accent2>
        <a:srgbClr val="F4708F"/>
      </a:accent2>
      <a:accent3>
        <a:srgbClr val="F67D04"/>
      </a:accent3>
      <a:accent4>
        <a:srgbClr val="32B032"/>
      </a:accent4>
      <a:accent5>
        <a:srgbClr val="00B0F0"/>
      </a:accent5>
      <a:accent6>
        <a:srgbClr val="C00000"/>
      </a:accent6>
      <a:hlink>
        <a:srgbClr val="99CCFF"/>
      </a:hlink>
      <a:folHlink>
        <a:srgbClr val="CCCCCC"/>
      </a:folHlink>
    </a:clrScheme>
    <a:fontScheme name="Edifist Learning PPT">
      <a:majorFont>
        <a:latin typeface="Segoe UI"/>
        <a:ea typeface="メイリオ"/>
        <a:cs typeface=""/>
      </a:majorFont>
      <a:minorFont>
        <a:latin typeface="Segoe U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D9F1FF"/>
        </a:solidFill>
        <a:ln>
          <a:noFill/>
        </a:ln>
      </a:spPr>
      <a:bodyPr rtlCol="0" anchor="ctr"/>
      <a:lstStyle>
        <a:defPPr algn="ctr">
          <a:defRPr kumimoji="1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A948D230053DA428BBAD5466068956A" ma:contentTypeVersion="23" ma:contentTypeDescription="Create a new document." ma:contentTypeScope="" ma:versionID="9549d2c8580240ad2e326de5a195a52b">
  <xsd:schema xmlns:xsd="http://www.w3.org/2001/XMLSchema" xmlns:xs="http://www.w3.org/2001/XMLSchema" xmlns:p="http://schemas.microsoft.com/office/2006/metadata/properties" xmlns:ns2="a89807d4-1ba8-41f4-a3ce-791349375d6f" xmlns:ns3="eeb9a8be-d17f-4ca8-aaf0-c6d24b141b0f" targetNamespace="http://schemas.microsoft.com/office/2006/metadata/properties" ma:root="true" ma:fieldsID="29ce8ecc915fe817fca3a73ff4c36f99" ns2:_="" ns3:_="">
    <xsd:import namespace="a89807d4-1ba8-41f4-a3ce-791349375d6f"/>
    <xsd:import namespace="eeb9a8be-d17f-4ca8-aaf0-c6d24b141b0f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_Flow_SignoffStatus" minOccurs="0"/>
                <xsd:element ref="ns3:MediaServiceLocation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_x5916__x90e8__x30a2__x30af__x30bb__x30b9__x8a31__x53ef_" minOccurs="0"/>
                <xsd:element ref="ns3:MediaServiceObjectDetectorVersions" minOccurs="0"/>
                <xsd:element ref="ns3:update" minOccurs="0"/>
                <xsd:element ref="ns3:MediaServiceSearchProperties" minOccurs="0"/>
                <xsd:element ref="ns3:Thumbnail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9807d4-1ba8-41f4-a3ce-791349375d6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e95fe1e3-8eed-4495-b540-ce0349f65ab2}" ma:internalName="TaxCatchAll" ma:showField="CatchAllData" ma:web="a89807d4-1ba8-41f4-a3ce-791349375d6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b9a8be-d17f-4ca8-aaf0-c6d24b141b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Flow_SignoffStatus" ma:index="19" nillable="true" ma:displayName="Sign-off status" ma:internalName="Sign_x002d_off_x0020_status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ba39e902-fa48-45d0-b282-97a572fa01c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_x5916__x90e8__x30a2__x30af__x30bb__x30b9__x8a31__x53ef_" ma:index="25" nillable="true" ma:displayName="外部アクセス許可" ma:format="Dropdown" ma:list="UserInfo" ma:SharePointGroup="0" ma:internalName="_x5916__x90e8__x30a2__x30af__x30bb__x30b9__x8a31__x53ef_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update" ma:index="27" nillable="true" ma:displayName="update" ma:format="DateTime" ma:internalName="update">
      <xsd:simpleType>
        <xsd:restriction base="dms:DateTime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humbnail" ma:index="29" nillable="true" ma:displayName="Thumbnail" ma:format="Dropdown" ma:internalName="Thumbnail">
      <xsd:simpleType>
        <xsd:restriction base="dms:Text">
          <xsd:maxLength value="255"/>
        </xsd:restriction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5916__x90e8__x30a2__x30af__x30bb__x30b9__x8a31__x53ef_ xmlns="eeb9a8be-d17f-4ca8-aaf0-c6d24b141b0f">
      <UserInfo>
        <DisplayName/>
        <AccountId xsi:nil="true"/>
        <AccountType/>
      </UserInfo>
    </_x5916__x90e8__x30a2__x30af__x30bb__x30b9__x8a31__x53ef_>
    <lcf76f155ced4ddcb4097134ff3c332f xmlns="eeb9a8be-d17f-4ca8-aaf0-c6d24b141b0f">
      <Terms xmlns="http://schemas.microsoft.com/office/infopath/2007/PartnerControls"/>
    </lcf76f155ced4ddcb4097134ff3c332f>
    <_Flow_SignoffStatus xmlns="eeb9a8be-d17f-4ca8-aaf0-c6d24b141b0f" xsi:nil="true"/>
    <TaxCatchAll xmlns="a89807d4-1ba8-41f4-a3ce-791349375d6f" xsi:nil="true"/>
    <update xmlns="eeb9a8be-d17f-4ca8-aaf0-c6d24b141b0f" xsi:nil="true"/>
    <Thumbnail xmlns="eeb9a8be-d17f-4ca8-aaf0-c6d24b141b0f" xsi:nil="true"/>
  </documentManagement>
</p:properties>
</file>

<file path=customXml/itemProps1.xml><?xml version="1.0" encoding="utf-8"?>
<ds:datastoreItem xmlns:ds="http://schemas.openxmlformats.org/officeDocument/2006/customXml" ds:itemID="{83D937AD-3664-4ED1-92E9-ECCF8EACC9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89807d4-1ba8-41f4-a3ce-791349375d6f"/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79880C3-F8EF-45EC-A024-C535D9D279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8687072-7BCC-4B16-A757-D6472EF0541C}">
  <ds:schemaRefs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purl.org/dc/elements/1.1/"/>
    <ds:schemaRef ds:uri="http://www.w3.org/XML/1998/namespace"/>
    <ds:schemaRef ds:uri="a89807d4-1ba8-41f4-a3ce-791349375d6f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428</TotalTime>
  <Words>258</Words>
  <Application>Microsoft Office PowerPoint</Application>
  <PresentationFormat>A4 210 x 297 mm</PresentationFormat>
  <Paragraphs>70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6" baseType="lpstr">
      <vt:lpstr>Noto Sans JP</vt:lpstr>
      <vt:lpstr>メイリオ</vt:lpstr>
      <vt:lpstr>Arial</vt:lpstr>
      <vt:lpstr>Calibri</vt:lpstr>
      <vt:lpstr>Segoe UI</vt:lpstr>
      <vt:lpstr>Segoe UI Semibold</vt:lpstr>
      <vt:lpstr>Wingdings</vt:lpstr>
      <vt:lpstr>edifist_template_4x3</vt:lpstr>
      <vt:lpstr>タイトル</vt:lpstr>
      <vt:lpstr>目次</vt:lpstr>
      <vt:lpstr>１</vt:lpstr>
      <vt:lpstr>1.1</vt:lpstr>
      <vt:lpstr>1.2</vt:lpstr>
      <vt:lpstr>２</vt:lpstr>
      <vt:lpstr>2.1 </vt:lpstr>
      <vt:lpstr>2.2</vt:lpstr>
      <vt:lpstr>2.3</vt:lpstr>
      <vt:lpstr>PowerPoint プレゼンテーション</vt:lpstr>
      <vt:lpstr>３．</vt:lpstr>
      <vt:lpstr>3. 1</vt:lpstr>
      <vt:lpstr>４．</vt:lpstr>
      <vt:lpstr>4.1</vt:lpstr>
      <vt:lpstr>4.2 概算費用見積もり</vt:lpstr>
      <vt:lpstr>Apendix． </vt:lpstr>
      <vt:lpstr>生成AI導入に伴うシラバス・学習形態の整理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柏木 純菜</dc:creator>
  <cp:lastModifiedBy>高橋 栄司</cp:lastModifiedBy>
  <cp:revision>10</cp:revision>
  <cp:lastPrinted>2024-12-18T07:08:35Z</cp:lastPrinted>
  <dcterms:created xsi:type="dcterms:W3CDTF">2014-08-21T10:38:31Z</dcterms:created>
  <dcterms:modified xsi:type="dcterms:W3CDTF">2026-03-11T00:21:17Z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0x0101007A948D230053DA428BBAD5466068956A</vt:lpwstr>
  </property>
  <property fmtid="{D5CDD505-2E9C-101B-9397-08002B2CF9AE}" pid="3" name="Order">
    <vt:r8>10313200</vt:r8>
  </property>
  <property fmtid="{D5CDD505-2E9C-101B-9397-08002B2CF9AE}" pid="4" name="MediaServiceImageTags">
    <vt:lpwstr/>
  </property>
</Properties>
</file>