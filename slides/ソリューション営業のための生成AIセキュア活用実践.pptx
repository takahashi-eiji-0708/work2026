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728" r:id="rId4"/>
  </p:sldMasterIdLst>
  <p:notesMasterIdLst>
    <p:notesMasterId r:id="rId23"/>
  </p:notesMasterIdLst>
  <p:sldIdLst>
    <p:sldId id="301" r:id="rIdS1"/>
    <p:sldId id="302" r:id="rIdS2"/>
    <p:sldId id="303" r:id="rIdS3"/>
    <p:sldId id="304" r:id="rIdS4"/>
    <p:sldId id="305" r:id="rIdS5"/>
    <p:sldId id="306" r:id="rIdS6"/>
    <p:sldId id="307" r:id="rIdS7"/>
    <p:sldId id="308" r:id="rIdS8"/>
    <p:sldId id="309" r:id="rIdS9"/>
    <p:sldId id="310" r:id="rIdS10"/>
  </p:sldIdLst>
  <p:sldSz cx="9906000" cy="6858000" type="A4"/>
  <p:notesSz cx="6845300" cy="997108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  <p15:guide id="3" pos="320" userDrawn="1">
          <p15:clr>
            <a:srgbClr val="A4A3A4"/>
          </p15:clr>
        </p15:guide>
        <p15:guide id="4" orient="horz" pos="618" userDrawn="1">
          <p15:clr>
            <a:srgbClr val="A4A3A4"/>
          </p15:clr>
        </p15:guide>
        <p15:guide id="5" pos="1056" userDrawn="1">
          <p15:clr>
            <a:srgbClr val="A4A3A4"/>
          </p15:clr>
        </p15:guide>
        <p15:guide id="6" pos="5978" userDrawn="1">
          <p15:clr>
            <a:srgbClr val="A4A3A4"/>
          </p15:clr>
        </p15:guide>
        <p15:guide id="7" pos="1895" userDrawn="1">
          <p15:clr>
            <a:srgbClr val="A4A3A4"/>
          </p15:clr>
        </p15:guide>
        <p15:guide id="8" orient="horz" pos="98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007ACC"/>
    <a:srgbClr val="E2EFDA"/>
    <a:srgbClr val="0079C2"/>
    <a:srgbClr val="CC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E25E649-3F16-4E02-A733-19D2CDBF48F0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E25E649-3F16-4E02-A733-19D2CDBF48F0}" styleName="中間スタイル 3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淡色スタイル 1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C89EF96-8CEA-46FF-86C4-4CE0E7609802}" styleName="淡色スタイル 3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FABFCF23-3B69-468F-B69F-88F6DE6A72F2}" styleName="中間スタイル 1 - アクセント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BDBED569-4797-4DF1-A0F4-6AAB3CD982D8}" styleName="淡色スタイル 3 - アクセント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7DF18680-E054-41AD-8BC1-D1AEF772440D}" styleName="中間スタイル 2 - アクセント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660B408-B3CF-4A94-85FC-2B1E0A45F4A2}" styleName="濃色スタイル 2 - アクセント 1/アクセント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8A107856-5554-42FB-B03E-39F5DBC370BA}" styleName="中間スタイル 4 - アクセント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スタイル (淡色)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A111915-BE36-4E01-A7E5-04B1672EAD32}" styleName="淡色スタイル 2 - アクセント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74C1A8A3-306A-4EB7-A6B1-4F7E0EB9C5D6}" styleName="中間スタイル 3 - アクセント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淡色スタイル 1 - アクセント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8EC20E35-A176-4012-BC5E-935CFFF8708E}" styleName="スタイル (中間)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3C2FFA5D-87B4-456A-9821-1D502468CF0F}" styleName="テーマ スタイル 1 - アクセント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7" d="100"/>
          <a:sy n="117" d="100"/>
        </p:scale>
        <p:origin x="822" y="96"/>
      </p:cViewPr>
      <p:guideLst>
        <p:guide orient="horz" pos="2160"/>
        <p:guide pos="3120"/>
        <p:guide pos="320"/>
        <p:guide orient="horz" pos="618"/>
        <p:guide pos="1056"/>
        <p:guide pos="5978"/>
        <p:guide pos="1895"/>
        <p:guide orient="horz" pos="98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24" Type="http://schemas.openxmlformats.org/officeDocument/2006/relationships/presProps" Target="presProps.xml"/><Relationship Id="rId23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27" Type="http://schemas.openxmlformats.org/officeDocument/2006/relationships/tableStyles" Target="tableStyles.xml"/><Relationship Id="rIdS1" Type="http://schemas.openxmlformats.org/officeDocument/2006/relationships/slide" Target="slides/slide1.xml"/><Relationship Id="rIdS2" Type="http://schemas.openxmlformats.org/officeDocument/2006/relationships/slide" Target="slides/slide2.xml"/><Relationship Id="rIdS3" Type="http://schemas.openxmlformats.org/officeDocument/2006/relationships/slide" Target="slides/slide3.xml"/><Relationship Id="rIdS4" Type="http://schemas.openxmlformats.org/officeDocument/2006/relationships/slide" Target="slides/slide4.xml"/><Relationship Id="rIdS5" Type="http://schemas.openxmlformats.org/officeDocument/2006/relationships/slide" Target="slides/slide5.xml"/><Relationship Id="rIdS6" Type="http://schemas.openxmlformats.org/officeDocument/2006/relationships/slide" Target="slides/slide6.xml"/><Relationship Id="rIdS7" Type="http://schemas.openxmlformats.org/officeDocument/2006/relationships/slide" Target="slides/slide7.xml"/><Relationship Id="rIdS8" Type="http://schemas.openxmlformats.org/officeDocument/2006/relationships/slide" Target="slides/slide8.xml"/><Relationship Id="rIdS9" Type="http://schemas.openxmlformats.org/officeDocument/2006/relationships/slide" Target="slides/slide9.xml"/><Relationship Id="rIdS10" Type="http://schemas.openxmlformats.org/officeDocument/2006/relationships/slide" Target="slides/slide1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966297" cy="498555"/>
          </a:xfrm>
          <a:prstGeom prst="rect">
            <a:avLst/>
          </a:prstGeom>
        </p:spPr>
        <p:txBody>
          <a:bodyPr vert="horz" lIns="92620" tIns="46310" rIns="92620" bIns="4631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77419" y="0"/>
            <a:ext cx="2966297" cy="498555"/>
          </a:xfrm>
          <a:prstGeom prst="rect">
            <a:avLst/>
          </a:prstGeom>
        </p:spPr>
        <p:txBody>
          <a:bodyPr vert="horz" lIns="92620" tIns="46310" rIns="92620" bIns="46310" rtlCol="0"/>
          <a:lstStyle>
            <a:lvl1pPr algn="r">
              <a:defRPr sz="1200"/>
            </a:lvl1pPr>
          </a:lstStyle>
          <a:p>
            <a:fld id="{A02D6AF2-699B-42AB-9AA6-5F448F6BF813}" type="datetimeFigureOut">
              <a:rPr kumimoji="1" lang="ja-JP" altLang="en-US" smtClean="0"/>
              <a:t>2026/3/11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720725" y="747713"/>
            <a:ext cx="5403850" cy="3740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620" tIns="46310" rIns="92620" bIns="4631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4531" y="4736268"/>
            <a:ext cx="5476240" cy="4486990"/>
          </a:xfrm>
          <a:prstGeom prst="rect">
            <a:avLst/>
          </a:prstGeom>
        </p:spPr>
        <p:txBody>
          <a:bodyPr vert="horz" lIns="92620" tIns="46310" rIns="92620" bIns="4631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70803"/>
            <a:ext cx="2966297" cy="498555"/>
          </a:xfrm>
          <a:prstGeom prst="rect">
            <a:avLst/>
          </a:prstGeom>
        </p:spPr>
        <p:txBody>
          <a:bodyPr vert="horz" lIns="92620" tIns="46310" rIns="92620" bIns="4631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77419" y="9470803"/>
            <a:ext cx="2966297" cy="498555"/>
          </a:xfrm>
          <a:prstGeom prst="rect">
            <a:avLst/>
          </a:prstGeom>
        </p:spPr>
        <p:txBody>
          <a:bodyPr vert="horz" lIns="92620" tIns="46310" rIns="92620" bIns="46310" rtlCol="0" anchor="b"/>
          <a:lstStyle>
            <a:lvl1pPr algn="r">
              <a:defRPr sz="1200"/>
            </a:lvl1pPr>
          </a:lstStyle>
          <a:p>
            <a:fld id="{B728FA52-5C2C-41C8-9A98-666EAD66D45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67888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5" descr="\\Gfp10\黒島_制作\s_SEデザイン\edifist\pptテンプレート制作\スライス\表紙_ライン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3240" y="2630488"/>
            <a:ext cx="3281363" cy="3390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07373" y="260649"/>
            <a:ext cx="1365246" cy="2281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272480" y="2564913"/>
            <a:ext cx="7644849" cy="866527"/>
          </a:xfrm>
        </p:spPr>
        <p:txBody>
          <a:bodyPr>
            <a:normAutofit/>
          </a:bodyPr>
          <a:lstStyle>
            <a:lvl1pPr algn="l">
              <a:defRPr sz="3000">
                <a:solidFill>
                  <a:srgbClr val="0078C1"/>
                </a:solidFill>
              </a:defRPr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272480" y="3472544"/>
            <a:ext cx="6934200" cy="1752600"/>
          </a:xfr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/>
              <a:t>マスタ サブタイトルの書式設定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33879003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185365" y="1949490"/>
            <a:ext cx="9517057" cy="792088"/>
          </a:xfrm>
          <a:blipFill>
            <a:blip r:embed="rId3" cstate="print"/>
            <a:stretch>
              <a:fillRect/>
            </a:stretch>
          </a:blipFill>
        </p:spPr>
        <p:txBody>
          <a:bodyPr>
            <a:normAutofit/>
          </a:bodyPr>
          <a:lstStyle>
            <a:lvl1pPr algn="ctr">
              <a:defRPr sz="2600" b="1" cap="all">
                <a:solidFill>
                  <a:schemeClr val="bg1"/>
                </a:solidFill>
              </a:defRPr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194476" y="3005898"/>
            <a:ext cx="9517057" cy="810319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1800" b="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 テキストの書式設定</a:t>
            </a:r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E51B9341-B260-4715-951A-E21832254E3E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771887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sp>
        <p:nvSpPr>
          <p:cNvPr id="5" name="正方形/長方形 4"/>
          <p:cNvSpPr/>
          <p:nvPr userDrawn="1"/>
        </p:nvSpPr>
        <p:spPr>
          <a:xfrm>
            <a:off x="0" y="-4763"/>
            <a:ext cx="9906000" cy="825501"/>
          </a:xfrm>
          <a:prstGeom prst="rect">
            <a:avLst/>
          </a:prstGeom>
          <a:blipFill dpi="0" rotWithShape="1">
            <a:blip r:embed="rId2" cstate="print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6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350493" y="980728"/>
            <a:ext cx="9205023" cy="5328592"/>
          </a:xfrm>
        </p:spPr>
        <p:txBody>
          <a:bodyPr>
            <a:normAutofit/>
          </a:bodyPr>
          <a:lstStyle>
            <a:lvl1pPr marL="342900" indent="-342900">
              <a:buClr>
                <a:schemeClr val="tx2"/>
              </a:buClr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 sz="1800"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 sz="1600"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 sz="1100"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7" name="フッター プレースホルダー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8" name="スライド番号プレースホルダー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9E3775C3-C297-4870-9654-79FE6708075B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3407883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sp>
        <p:nvSpPr>
          <p:cNvPr id="5" name="正方形/長方形 4"/>
          <p:cNvSpPr/>
          <p:nvPr userDrawn="1"/>
        </p:nvSpPr>
        <p:spPr>
          <a:xfrm>
            <a:off x="0" y="-4524"/>
            <a:ext cx="9906000" cy="825011"/>
          </a:xfrm>
          <a:prstGeom prst="rect">
            <a:avLst/>
          </a:prstGeom>
          <a:blipFill dpi="0" rotWithShape="1">
            <a:blip r:embed="rId2" cstate="print"/>
            <a:srcRect/>
            <a:tile tx="0" ty="0" sx="100000" sy="100000" flip="none" algn="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6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12" name="コンテンツ プレースホルダー 2"/>
          <p:cNvSpPr>
            <a:spLocks noGrp="1"/>
          </p:cNvSpPr>
          <p:nvPr>
            <p:ph idx="1"/>
          </p:nvPr>
        </p:nvSpPr>
        <p:spPr>
          <a:xfrm>
            <a:off x="350493" y="980728"/>
            <a:ext cx="9205023" cy="5328592"/>
          </a:xfrm>
        </p:spPr>
        <p:txBody>
          <a:bodyPr>
            <a:normAutofit/>
          </a:bodyPr>
          <a:lstStyle>
            <a:lvl1pPr marL="342900" indent="-342900">
              <a:buClr>
                <a:schemeClr val="tx2"/>
              </a:buClr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 sz="1800"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 sz="1600"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 sz="1100"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7" name="フッター プレースホルダー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8" name="スライド番号プレースホルダー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7D92606F-8A3E-4501-B43D-E196D334663E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6817898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5" name="Picture 2" descr="\\Gfp10\黒島_制作\s_SEデザイン\edifist\pptテンプレート制作\スライス\タイトル_03.jp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0" y="773113"/>
            <a:ext cx="9904280" cy="114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12" name="コンテンツ プレースホルダー 2"/>
          <p:cNvSpPr>
            <a:spLocks noGrp="1"/>
          </p:cNvSpPr>
          <p:nvPr>
            <p:ph idx="1"/>
          </p:nvPr>
        </p:nvSpPr>
        <p:spPr>
          <a:xfrm>
            <a:off x="350493" y="980728"/>
            <a:ext cx="9205023" cy="5328592"/>
          </a:xfrm>
        </p:spPr>
        <p:txBody>
          <a:bodyPr>
            <a:normAutofit/>
          </a:bodyPr>
          <a:lstStyle>
            <a:lvl1pPr marL="342900" indent="-342900">
              <a:buClr>
                <a:schemeClr val="tx2"/>
              </a:buClr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 sz="1800"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 sz="1600"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 sz="1100"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7" name="フッター プレースホルダー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8" name="スライド番号プレースホルダー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3B9A458F-255A-4455-AF16-827E73C709F2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1261592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sp>
        <p:nvSpPr>
          <p:cNvPr id="6" name="正方形/長方形 5"/>
          <p:cNvSpPr/>
          <p:nvPr userDrawn="1"/>
        </p:nvSpPr>
        <p:spPr>
          <a:xfrm>
            <a:off x="0" y="-4763"/>
            <a:ext cx="9906000" cy="825501"/>
          </a:xfrm>
          <a:prstGeom prst="rect">
            <a:avLst/>
          </a:prstGeom>
          <a:blipFill dpi="0" rotWithShape="1">
            <a:blip r:embed="rId2" cstate="print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7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0" y="908720"/>
            <a:ext cx="4836000" cy="5544616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000"/>
            </a:lvl4pPr>
            <a:lvl5pPr>
              <a:defRPr sz="1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5051178" y="908720"/>
            <a:ext cx="4836000" cy="5544616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000"/>
            </a:lvl4pPr>
            <a:lvl5pPr>
              <a:defRPr sz="1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12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8" name="フッター プレースホルダー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9" name="スライド番号プレースホルダー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03293F52-5C6E-411E-8BA7-D01B50DD7654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5175168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sp>
        <p:nvSpPr>
          <p:cNvPr id="6" name="正方形/長方形 5"/>
          <p:cNvSpPr/>
          <p:nvPr userDrawn="1"/>
        </p:nvSpPr>
        <p:spPr>
          <a:xfrm>
            <a:off x="0" y="-4524"/>
            <a:ext cx="9906000" cy="825011"/>
          </a:xfrm>
          <a:prstGeom prst="rect">
            <a:avLst/>
          </a:prstGeom>
          <a:blipFill dpi="0" rotWithShape="1">
            <a:blip r:embed="rId2" cstate="print"/>
            <a:srcRect/>
            <a:tile tx="0" ty="0" sx="100000" sy="100000" flip="none" algn="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7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0" y="908720"/>
            <a:ext cx="4836000" cy="5544616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4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000">
                <a:solidFill>
                  <a:schemeClr val="tx1"/>
                </a:solidFill>
              </a:defRPr>
            </a:lvl4pPr>
            <a:lvl5pPr>
              <a:defRPr sz="1000">
                <a:solidFill>
                  <a:schemeClr val="tx1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5051178" y="908720"/>
            <a:ext cx="4836000" cy="5544616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4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000">
                <a:solidFill>
                  <a:schemeClr val="tx1"/>
                </a:solidFill>
              </a:defRPr>
            </a:lvl4pPr>
            <a:lvl5pPr>
              <a:defRPr sz="1000">
                <a:solidFill>
                  <a:schemeClr val="tx1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15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8" name="フッター プレースホルダー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9" name="スライド番号プレースホルダー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80F5BC0D-3915-4E92-A65F-5F53EE902169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8075043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6" name="Picture 2" descr="\\Gfp10\黒島_制作\s_SEデザイン\edifist\pptテンプレート制作\スライス\タイトル_03.jp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0" y="773113"/>
            <a:ext cx="9904280" cy="114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0" y="908720"/>
            <a:ext cx="4836000" cy="5544616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4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000">
                <a:solidFill>
                  <a:schemeClr val="tx1"/>
                </a:solidFill>
              </a:defRPr>
            </a:lvl4pPr>
            <a:lvl5pPr>
              <a:defRPr sz="1000">
                <a:solidFill>
                  <a:schemeClr val="tx1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5051178" y="908720"/>
            <a:ext cx="4836000" cy="5544616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4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000">
                <a:solidFill>
                  <a:schemeClr val="tx1"/>
                </a:solidFill>
              </a:defRPr>
            </a:lvl4pPr>
            <a:lvl5pPr>
              <a:defRPr sz="1000">
                <a:solidFill>
                  <a:schemeClr val="tx1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15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8" name="フッター プレースホルダー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9" name="スライド番号プレースホルダー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3AF54FDE-D10D-4D4A-8EAC-AAB362AADBE8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3856799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最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フッター プレースホルダー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5697036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大分類タイトル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スライド番号プレースホルダー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98AEC1-D56D-4105-931F-5C397871EF8F}" type="slidenum">
              <a:rPr lang="en-US" altLang="ja-JP" smtClean="0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5" name="テキスト プレースホルダ 3"/>
          <p:cNvSpPr>
            <a:spLocks noGrp="1"/>
          </p:cNvSpPr>
          <p:nvPr>
            <p:ph type="body" sz="half" idx="12"/>
          </p:nvPr>
        </p:nvSpPr>
        <p:spPr>
          <a:xfrm>
            <a:off x="3152775" y="549277"/>
            <a:ext cx="6300788" cy="503461"/>
          </a:xfrm>
        </p:spPr>
        <p:txBody>
          <a:bodyPr lIns="0" rIns="0"/>
          <a:lstStyle>
            <a:lvl1pPr marL="0" indent="0">
              <a:buNone/>
              <a:defRPr sz="2000" b="1" u="none" baseline="0">
                <a:solidFill>
                  <a:schemeClr val="accent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 テキストの書式設定</a:t>
            </a:r>
          </a:p>
        </p:txBody>
      </p:sp>
      <p:sp>
        <p:nvSpPr>
          <p:cNvPr id="6" name="タイトル 5"/>
          <p:cNvSpPr>
            <a:spLocks noGrp="1"/>
          </p:cNvSpPr>
          <p:nvPr>
            <p:ph type="title"/>
          </p:nvPr>
        </p:nvSpPr>
        <p:spPr>
          <a:xfrm>
            <a:off x="381001" y="543264"/>
            <a:ext cx="2411412" cy="1985624"/>
          </a:xfrm>
          <a:solidFill>
            <a:schemeClr val="accent1"/>
          </a:solidFill>
          <a:ln>
            <a:noFill/>
          </a:ln>
          <a:effectLst/>
        </p:spPr>
        <p:txBody>
          <a:bodyPr vert="horz" wrap="square" lIns="72000" tIns="72000" rIns="72000" bIns="72000" numCol="1" anchor="t" anchorCtr="0" compatLnSpc="1">
            <a:prstTxWarp prst="textNoShape">
              <a:avLst/>
            </a:prstTxWarp>
          </a:bodyPr>
          <a:lstStyle>
            <a:lvl1pPr algn="ctr">
              <a:defRPr lang="ja-JP" altLang="en-US" sz="2400">
                <a:solidFill>
                  <a:schemeClr val="bg1"/>
                </a:solidFill>
              </a:defRPr>
            </a:lvl1pPr>
          </a:lstStyle>
          <a:p>
            <a:pPr lvl="0" algn="ctr"/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22276553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2" cstate="print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タイトル プレースホルダー 1"/>
          <p:cNvSpPr>
            <a:spLocks noGrp="1"/>
          </p:cNvSpPr>
          <p:nvPr>
            <p:ph type="title"/>
          </p:nvPr>
        </p:nvSpPr>
        <p:spPr bwMode="auto">
          <a:xfrm>
            <a:off x="271727" y="104777"/>
            <a:ext cx="8659152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マスター タイトルの書式設定</a:t>
            </a:r>
          </a:p>
        </p:txBody>
      </p:sp>
      <p:sp>
        <p:nvSpPr>
          <p:cNvPr id="1027" name="テキスト プレースホルダー 2"/>
          <p:cNvSpPr>
            <a:spLocks noGrp="1"/>
          </p:cNvSpPr>
          <p:nvPr>
            <p:ph type="body" idx="1"/>
          </p:nvPr>
        </p:nvSpPr>
        <p:spPr bwMode="auto">
          <a:xfrm>
            <a:off x="271727" y="908050"/>
            <a:ext cx="9362546" cy="5545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1286409" y="6502409"/>
            <a:ext cx="4213490" cy="3206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800">
                <a:solidFill>
                  <a:srgbClr val="0078C1"/>
                </a:solidFill>
                <a:latin typeface="Segoe UI Semibold" panose="020B0702040204020203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7687474" y="6480184"/>
            <a:ext cx="2101585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>
                <a:solidFill>
                  <a:srgbClr val="0078C1"/>
                </a:solidFill>
                <a:latin typeface="Segoe UI" panose="020B0502040204020203" pitchFamily="34" charset="0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A9ECA16F-5FE8-45FD-A900-C8FEF369676D}" type="slidenum">
              <a:rPr lang="ja-JP" altLang="en-US">
                <a:cs typeface="メイリオ" panose="020B0604030504040204" pitchFamily="50" charset="-128"/>
              </a:rPr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ja-JP" altLang="en-US">
              <a:cs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902311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9" r:id="rId1"/>
    <p:sldLayoutId id="2147483730" r:id="rId2"/>
    <p:sldLayoutId id="2147483731" r:id="rId3"/>
    <p:sldLayoutId id="2147483732" r:id="rId4"/>
    <p:sldLayoutId id="2147483733" r:id="rId5"/>
    <p:sldLayoutId id="2147483734" r:id="rId6"/>
    <p:sldLayoutId id="2147483735" r:id="rId7"/>
    <p:sldLayoutId id="2147483736" r:id="rId8"/>
    <p:sldLayoutId id="2147483737" r:id="rId9"/>
    <p:sldLayoutId id="2147483748" r:id="rId10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b="1" kern="1200">
          <a:solidFill>
            <a:schemeClr val="bg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5pPr>
      <a:lvl6pPr marL="457200" algn="l" rtl="0" fontAlgn="base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6pPr>
      <a:lvl7pPr marL="914400" algn="l" rtl="0" fontAlgn="base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7pPr>
      <a:lvl8pPr marL="1371600" algn="l" rtl="0" fontAlgn="base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8pPr>
      <a:lvl9pPr marL="1828800" algn="l" rtl="0" fontAlgn="base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Wingdings" panose="05000000000000000000" pitchFamily="2" charset="2"/>
        <a:buChar char="l"/>
        <a:defRPr kumimoji="1" sz="20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–"/>
        <a:defRPr kumimoji="1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–"/>
        <a:defRPr kumimoji="1" sz="11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»"/>
        <a:defRPr kumimoji="1" sz="11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12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7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ソリューション営業のための</a:t>
            </a:r>
            <a:endParaRPr lang="ja-JP" altLang="en-US" sz="27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7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生成AIセキュア活用実践</a:t>
            </a:r>
            <a:endParaRPr lang="ja-JP" altLang="en-US" sz="27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0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× Office で提案活動を体験する2日間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>
                <a:latin typeface="Noto Sans JP"/>
                <a:ea typeface="Noto Sans JP"/>
                <a:cs typeface="Noto Sans JP"/>
                <a:sym typeface="Noto Sans JP"/>
              </a:rPr>
              <a:t>目次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Body 11"/>
          <p:cNvSpPr>
            <a:spLocks noGrp="1"/>
          </p:cNvSpPr>
          <p:nvPr>
            <p:ph idx="1"/>
          </p:nvPr>
        </p:nvSpPr>
        <p:spPr>
          <a:xfrm>
            <a:off x="330000" y="1150000"/>
            <a:ext cx="5900000" cy="4010000"/>
          </a:xfrm>
        </p:spPr>
        <p:txBody>
          <a:bodyPr>
            <a:noAutofit/>
          </a:bodyPr>
          <a:lstStyle/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生成AIの進化と現状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の基本操作とプロンプト設計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セキュアに使うための留意点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Word × Copilot：商談準備と議事録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商談後フォロー：メール・社内報告・行動管理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Excel × Copilot：分析と見積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Word × Copilot：提案書の作成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PowerPoint × Copilot：提案スライド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自社アプリ ELI Sales Assist の紹介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営業業務への応用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6350000" y="1190000"/>
            <a:ext cx="200000" cy="2968000"/>
          </a:xfrm>
          <a:prstGeom prst="rightBrace">
            <a:avLst/>
          </a:prstGeom>
          <a:noFill/>
          <a:ln w="19050">
            <a:solidFill>
              <a:srgbClr val="0078C8"/>
            </a:solidFill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6680000" y="2293000"/>
            <a:ext cx="2890000" cy="762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パートA　約3/4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基礎・セキュリティ・Office連携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6350000" y="4238000"/>
            <a:ext cx="200000" cy="682000"/>
          </a:xfrm>
          <a:prstGeom prst="rightBrace">
            <a:avLst/>
          </a:prstGeom>
          <a:noFill/>
          <a:ln w="19050">
            <a:solidFill>
              <a:srgbClr val="E8710A"/>
            </a:solidFill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6680000" y="4198000"/>
            <a:ext cx="2890000" cy="762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パートB　約1/4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自社アプリ紹介と業務への応用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330000" y="5500000"/>
            <a:ext cx="9246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Day 1：第1章〜第5章　／　Day 2：第6章〜第10章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>
                <a:latin typeface="Noto Sans JP"/>
                <a:ea typeface="Noto Sans JP"/>
                <a:cs typeface="Noto Sans JP"/>
                <a:sym typeface="Noto Sans JP"/>
              </a:rPr>
              <a:t>オリエンテーション：研修のゴールと進め方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30000"/>
            <a:ext cx="9246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この研修のゴール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420000"/>
            <a:ext cx="2928666" cy="19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530000" y="15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1150000" y="1580000"/>
            <a:ext cx="197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0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安全に</a:t>
            </a:r>
            <a:endParaRPr lang="ja-JP" altLang="en-US" sz="2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530000" y="2250000"/>
            <a:ext cx="2528666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入力してよい情報を判断し、マスキングとファクトチェックを習慣にする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488666" y="1420000"/>
            <a:ext cx="2928666" cy="19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688666" y="15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4308666" y="1580000"/>
            <a:ext cx="197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0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成果物まで</a:t>
            </a:r>
            <a:endParaRPr lang="ja-JP" altLang="en-US" sz="2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3688666" y="2250000"/>
            <a:ext cx="2528666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議事録・見積・提案書・スライドを、Copilot と一緒に最後まで仕上げる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6647333" y="1420000"/>
            <a:ext cx="2928666" cy="19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/>
          <p:nvPr/>
        </p:nvSpPr>
        <p:spPr>
          <a:xfrm>
            <a:off x="6847333" y="15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7467333" y="1580000"/>
            <a:ext cx="197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0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自分の業務で</a:t>
            </a:r>
            <a:endParaRPr lang="ja-JP" altLang="en-US" sz="2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 txBox="1"/>
          <p:nvPr/>
        </p:nvSpPr>
        <p:spPr>
          <a:xfrm>
            <a:off x="6847333" y="2250000"/>
            <a:ext cx="2528666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自社アプリの例をヒントに、自分の営業業務への応用プランを作る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 txBox="1"/>
          <p:nvPr/>
        </p:nvSpPr>
        <p:spPr>
          <a:xfrm>
            <a:off x="330000" y="3560000"/>
            <a:ext cx="9246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進め方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/>
          <p:nvPr/>
        </p:nvSpPr>
        <p:spPr>
          <a:xfrm>
            <a:off x="330000" y="3950000"/>
            <a:ext cx="3182000" cy="820000"/>
          </a:xfrm>
          <a:prstGeom prst="homePlate">
            <a:avLst>
              <a:gd name="adj" fmla="val 30000"/>
            </a:avLst>
          </a:prstGeom>
          <a:solidFill>
            <a:srgbClr val="004D88"/>
          </a:solidFill>
          <a:ln>
            <a:noFill/>
          </a:ln>
        </p:spPr>
        <p:txBody>
          <a:bodyPr wrap="square" lIns="300000" tIns="45720" rIns="3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短い講義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仕組みとルールを押さえる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/>
          <p:nvPr/>
        </p:nvSpPr>
        <p:spPr>
          <a:xfrm>
            <a:off x="3362000" y="3950000"/>
            <a:ext cx="3182000" cy="820000"/>
          </a:xfrm>
          <a:prstGeom prst="chevron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300000" tIns="45720" rIns="3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演習で体感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みなと精機への提案を進める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6394000" y="3950000"/>
            <a:ext cx="3182000" cy="820000"/>
          </a:xfrm>
          <a:prstGeom prst="chevron">
            <a:avLst>
              <a:gd name="adj" fmla="val 30000"/>
            </a:avLst>
          </a:prstGeom>
          <a:solidFill>
            <a:srgbClr val="3A96D8"/>
          </a:solidFill>
          <a:ln>
            <a:noFill/>
          </a:ln>
        </p:spPr>
        <p:txBody>
          <a:bodyPr wrap="square" lIns="300000" tIns="45720" rIns="3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振り返り・共有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3名の結果の違いから学ぶ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/>
          <p:nvPr/>
        </p:nvSpPr>
        <p:spPr>
          <a:xfrm>
            <a:off x="330000" y="5050000"/>
            <a:ext cx="2928666" cy="7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演習は全体の約6割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/>
          <p:nvPr/>
        </p:nvSpPr>
        <p:spPr>
          <a:xfrm>
            <a:off x="3488666" y="5050000"/>
            <a:ext cx="2928666" cy="7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受講者3名・講師が画面を見て個別に支援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0" name="Shape 30"/>
          <p:cNvSpPr/>
          <p:nvPr/>
        </p:nvSpPr>
        <p:spPr>
          <a:xfrm>
            <a:off x="6647333" y="5050000"/>
            <a:ext cx="2928666" cy="70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データはすべて架空。実際の顧客情報は入力しない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>
                <a:latin typeface="Noto Sans JP"/>
                <a:ea typeface="Noto Sans JP"/>
                <a:cs typeface="Noto Sans JP"/>
                <a:sym typeface="Noto Sans JP"/>
              </a:rPr>
              <a:t>研修ストーリー：ELIソリューションズの営業として提案する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2600000" cy="820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180000" tIns="45720" rIns="9144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ELIソリューションズ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営業担当（あなた）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030000" y="1150000"/>
            <a:ext cx="1150000" cy="580000"/>
          </a:xfrm>
          <a:prstGeom prst="rightArrow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提案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4280000" y="1030000"/>
            <a:ext cx="5296000" cy="82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180000" tIns="45720" rIns="9144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株式会社みなと精機（架空）　人事部 佐伯課長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「若手技術者 約60名に、現場で使えるDX基礎研修をしたい」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2000000"/>
          <a:ext cx="9246000" cy="429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800000"/>
                <a:gridCol w="4300000"/>
                <a:gridCol w="2700000"/>
                <a:gridCol w="1446000"/>
              </a:tblGrid>
              <a:tr h="39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STEP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やること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使うアプリ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9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顧客と業界を調べる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アプリ（Web検索）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9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入力してはいけない情報を取り除く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アプリ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9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ヒアリングシートを作る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9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商談の文字起こしから議事録を作る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9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お礼メール・社内報告・行動リストを作る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アプリ／Word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演習7・8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9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過去の研修実績を分析する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Excel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演習9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9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7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見積を試算する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Excel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演習10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9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8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提案書を書く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演習11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9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9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提案スライドを作る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PowerPoint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演習12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9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10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自分の業務への応用を考える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Word／Codex（任意）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演習13・14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>
                <a:latin typeface="Noto Sans JP"/>
                <a:ea typeface="Noto Sans JP"/>
                <a:cs typeface="Noto Sans JP"/>
                <a:sym typeface="Noto Sans JP"/>
              </a:rPr>
              <a:t>2日間のタイムテーブル（各日 9:30〜17:00）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30000"/>
            <a:ext cx="4523000" cy="3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Day 1　生成AIの基礎と商談前後の活用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2" name="Table 12"/>
          <p:cNvGraphicFramePr>
            <a:graphicFrameLocks noGrp="1"/>
          </p:cNvGraphicFramePr>
          <p:nvPr/>
        </p:nvGraphicFramePr>
        <p:xfrm>
          <a:off x="330000" y="1430000"/>
          <a:ext cx="4523000" cy="414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250000"/>
                <a:gridCol w="3273000"/>
              </a:tblGrid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時間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内容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9:30–9:50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オリエンテーション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9:50–10:40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第1章 生成AIの進化と現状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10:50–12:00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第2章 基本操作とプロンプト（演習1〜3）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12:00–13:00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昼休憩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FEFEF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13:00–14:00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第3章 セキュアに使う（演習4）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14:10–15:30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第4章 Word：議事録ほか（演習5・6）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15:40–16:40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第5章 商談後フォロー（演習7・8）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16:40–17:00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Day1 振り返り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3" name="Shape 13"/>
          <p:cNvSpPr txBox="1"/>
          <p:nvPr/>
        </p:nvSpPr>
        <p:spPr>
          <a:xfrm>
            <a:off x="5053000" y="1030000"/>
            <a:ext cx="4523000" cy="3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Day 2　分析・提案書作成と業務への応用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5053000" y="1430000"/>
          <a:ext cx="4523000" cy="414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250000"/>
                <a:gridCol w="3273000"/>
              </a:tblGrid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時間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内容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9:30–9:45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Day1 の復習・セキュリティクイズ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9:45–11:05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第6章 Excel：分析・見積（演習9・10）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11:15–12:00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第7章 Word：提案書（演習11）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12:00–13:00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昼休憩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FEFEF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13:00–13:45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第8章 PowerPoint：提案スライド（演習12）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13:45–14:30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第9章 ELI Sales Assist の紹介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14:40–16:20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第10章 業務への応用（演習13・14）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16:20–17:00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発表・まとめ・理解度テスト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</a:tbl>
          </a:graphicData>
        </a:graphic>
      </p:graphicFrame>
      <p:sp>
        <p:nvSpPr>
          <p:cNvPr id="15" name="Shape 15"/>
          <p:cNvSpPr/>
          <p:nvPr/>
        </p:nvSpPr>
        <p:spPr>
          <a:xfrm>
            <a:off x="330000" y="5700000"/>
            <a:ext cx="260000" cy="260000"/>
          </a:xfrm>
          <a:prstGeom prst="rect">
            <a:avLst/>
          </a:prstGeom>
          <a:solidFill>
            <a:srgbClr val="F2F7FC"/>
          </a:solidFill>
          <a:ln w="12700">
            <a:solidFill>
              <a:srgbClr val="BBBBBB"/>
            </a:solidFill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670000" y="5690000"/>
            <a:ext cx="430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パートA：基礎・セキュリティ・Office連携（約3/4）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5080000" y="5700000"/>
            <a:ext cx="260000" cy="260000"/>
          </a:xfrm>
          <a:prstGeom prst="rect">
            <a:avLst/>
          </a:prstGeom>
          <a:solidFill>
            <a:srgbClr val="FDEBDC"/>
          </a:solidFill>
          <a:ln w="12700">
            <a:solidFill>
              <a:srgbClr val="BBBBBB"/>
            </a:solidFill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5420000" y="5690000"/>
            <a:ext cx="415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パートB：自社アプリ紹介と業務への応用（約1/4）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330000" y="6040000"/>
            <a:ext cx="924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各コマの間に10分の休憩があります。</a:t>
            </a:r>
            <a:endParaRPr lang="ja-JP" altLang="en-US" sz="1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>
                <a:latin typeface="Noto Sans JP"/>
                <a:ea typeface="Noto Sans JP"/>
                <a:cs typeface="Noto Sans JP"/>
                <a:sym typeface="Noto Sans JP"/>
              </a:rPr>
              <a:t>１．生成AIの進化と現状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>
                <a:latin typeface="Noto Sans JP"/>
                <a:ea typeface="Noto Sans JP"/>
                <a:cs typeface="Noto Sans JP"/>
                <a:sym typeface="Noto Sans JP"/>
              </a:rPr>
              <a:t>1.1 AIの歩み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6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500000"/>
                <a:gridCol w="3300000"/>
                <a:gridCol w="4446000"/>
              </a:tblGrid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時期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出来事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ポイント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1950〜60年代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第1次AIブーム（探索・推論）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パズルや迷路は解けるが、現実の問題には使えなかった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1980年代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第2次AIブーム（エキスパートシステム）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専門家の知識をルールとして書き込む。ルールの作成・保守が限界に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2000年代〜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第3次AIブーム（機械学習・深層学習）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データから規則性を自動で学ぶ。画像認識の精度が急速に向上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2017年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Transformer の発表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単語同士の関係をまとめて捉える仕組み。今の生成AIの土台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2022年11月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ChatGPT の公開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誰でも会話で使える生成AIが登場し、利用者が爆発的に増える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2023年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マルチモーダル化・業務ツールへの組み込み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画像も理解。Microsoft 365 に Copilot が組み込まれ始める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2024年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推論モデルの登場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答える前に「考える」時間を取り、複雑な問題の正答率が向上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2025年〜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エージェントの普及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調べる・資料を作る・コードを書くなど、複数の手順を自律的に進める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850000"/>
            <a:ext cx="9246000" cy="138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20000" tIns="150000" rIns="220000" bIns="12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現在（2026年）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生成AIは「質問に答える道具」から「仕事の一部を任せられる同僚」に近づいている。Word・Excel・PowerPoint の中から直接AIを呼び出せるようになった一方で、</a:t>
            </a: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AIに渡す情報と、AIが作ったものの正しさに対する人間の責任は、むしろ重くなっている。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>
                <a:latin typeface="Noto Sans JP"/>
                <a:ea typeface="Noto Sans JP"/>
                <a:cs typeface="Noto Sans JP"/>
                <a:sym typeface="Noto Sans JP"/>
              </a:rPr>
              <a:t>1.2 大規模言語モデル（LLM）の仕組み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9246000" cy="62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7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LLM ＝ それまでの文章に続く </a:t>
            </a:r>
            <a:r>
              <a:rPr lang="ja-JP" altLang="en-US" sz="17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「もっともらしい次の言葉」</a:t>
            </a:r>
            <a:r>
              <a:rPr lang="ja-JP" altLang="en-US" sz="17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 を予測し続けるプログラム</a:t>
            </a:r>
            <a:endParaRPr lang="ja-JP" altLang="en-US" sz="17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2250000"/>
            <a:ext cx="3000000" cy="13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8C8"/>
            </a:solidFill>
          </a:ln>
        </p:spPr>
        <p:txBody>
          <a:bodyPr wrap="square" lIns="180000" tIns="91440" rIns="18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入力（それまでの文章）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「お打ち合わせのお時間をいただき、誠に」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450000" y="2650000"/>
            <a:ext cx="650000" cy="500000"/>
          </a:xfrm>
          <a:prstGeom prst="rightArrow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4230000" y="1850000"/>
            <a:ext cx="53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次の言葉の候補と確率（イメージ）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4230000" y="2230000"/>
            <a:ext cx="115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ありがとう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5430000" y="2270000"/>
            <a:ext cx="2706000" cy="25000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8216000" y="2230000"/>
            <a:ext cx="6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82%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4230000" y="2620000"/>
            <a:ext cx="115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感謝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5430000" y="2660000"/>
            <a:ext cx="297000" cy="25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 txBox="1"/>
          <p:nvPr/>
        </p:nvSpPr>
        <p:spPr>
          <a:xfrm>
            <a:off x="5807000" y="2620000"/>
            <a:ext cx="6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9%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4230000" y="3010000"/>
            <a:ext cx="115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恐縮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5430000" y="3050000"/>
            <a:ext cx="132000" cy="25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 txBox="1"/>
          <p:nvPr/>
        </p:nvSpPr>
        <p:spPr>
          <a:xfrm>
            <a:off x="5642000" y="3010000"/>
            <a:ext cx="6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4%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 txBox="1"/>
          <p:nvPr/>
        </p:nvSpPr>
        <p:spPr>
          <a:xfrm>
            <a:off x="4230000" y="3400000"/>
            <a:ext cx="115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申し訳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/>
          <p:nvPr/>
        </p:nvSpPr>
        <p:spPr>
          <a:xfrm>
            <a:off x="5430000" y="3440000"/>
            <a:ext cx="66000" cy="25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 txBox="1"/>
          <p:nvPr/>
        </p:nvSpPr>
        <p:spPr>
          <a:xfrm>
            <a:off x="5576000" y="3400000"/>
            <a:ext cx="6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2%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 txBox="1"/>
          <p:nvPr/>
        </p:nvSpPr>
        <p:spPr>
          <a:xfrm>
            <a:off x="4230000" y="3790000"/>
            <a:ext cx="115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その他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/>
          <p:nvPr/>
        </p:nvSpPr>
        <p:spPr>
          <a:xfrm>
            <a:off x="5430000" y="3830000"/>
            <a:ext cx="99000" cy="25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 txBox="1"/>
          <p:nvPr/>
        </p:nvSpPr>
        <p:spPr>
          <a:xfrm>
            <a:off x="5609000" y="3790000"/>
            <a:ext cx="6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3%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0" name="Shape 30"/>
          <p:cNvSpPr/>
          <p:nvPr/>
        </p:nvSpPr>
        <p:spPr>
          <a:xfrm>
            <a:off x="330000" y="4480000"/>
            <a:ext cx="2401500" cy="620000"/>
          </a:xfrm>
          <a:prstGeom prst="homePlate">
            <a:avLst>
              <a:gd name="adj" fmla="val 30000"/>
            </a:avLst>
          </a:prstGeom>
          <a:solidFill>
            <a:srgbClr val="004D88"/>
          </a:solidFill>
          <a:ln>
            <a:noFill/>
          </a:ln>
        </p:spPr>
        <p:txBody>
          <a:bodyPr wrap="square" lIns="250000" tIns="45720" rIns="2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① 文章を読む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1" name="Shape 31"/>
          <p:cNvSpPr/>
          <p:nvPr/>
        </p:nvSpPr>
        <p:spPr>
          <a:xfrm>
            <a:off x="2611500" y="4480000"/>
            <a:ext cx="2401500" cy="620000"/>
          </a:xfrm>
          <a:prstGeom prst="chevron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250000" tIns="45720" rIns="2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② 確率を計算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2" name="Shape 32"/>
          <p:cNvSpPr/>
          <p:nvPr/>
        </p:nvSpPr>
        <p:spPr>
          <a:xfrm>
            <a:off x="4893000" y="4480000"/>
            <a:ext cx="2401500" cy="620000"/>
          </a:xfrm>
          <a:prstGeom prst="chevron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250000" tIns="45720" rIns="2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③ 1語を選ぶ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3" name="Shape 33"/>
          <p:cNvSpPr/>
          <p:nvPr/>
        </p:nvSpPr>
        <p:spPr>
          <a:xfrm>
            <a:off x="7174500" y="4480000"/>
            <a:ext cx="2401500" cy="620000"/>
          </a:xfrm>
          <a:prstGeom prst="chevron">
            <a:avLst>
              <a:gd name="adj" fmla="val 30000"/>
            </a:avLst>
          </a:prstGeom>
          <a:solidFill>
            <a:srgbClr val="3A96D8"/>
          </a:solidFill>
          <a:ln>
            <a:noFill/>
          </a:ln>
        </p:spPr>
        <p:txBody>
          <a:bodyPr wrap="square" lIns="250000" tIns="45720" rIns="2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④ 加えて繰り返す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4" name="Shape 34"/>
          <p:cNvSpPr/>
          <p:nvPr/>
        </p:nvSpPr>
        <p:spPr>
          <a:xfrm>
            <a:off x="330000" y="5300000"/>
            <a:ext cx="9246000" cy="8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この仕組みから、</a:t>
            </a: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「毎回答えが変わる」「もっともらしい誤りをつくる」「計算が苦手」</a:t>
            </a: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といった性質が生まれる（次ページ）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>
                <a:latin typeface="Noto Sans JP"/>
                <a:ea typeface="Noto Sans JP"/>
                <a:cs typeface="Noto Sans JP"/>
                <a:sym typeface="Noto Sans JP"/>
              </a:rPr>
              <a:t>1.2 LLMの性質と業務への影響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24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4550000"/>
                <a:gridCol w="4696000"/>
              </a:tblGrid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性質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業務への影響・対応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同じ質問でも毎回答えが少し変わる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気に入らなければ再生成。同じ結果の再現は保証されない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もっともらしい嘘をつくことがある（ハルシネーション）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数字・固有名詞・日付・出典は必ず確認する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学習した時点以降の情報を知らない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最新情報は Web 検索機能を使い、出典を確認する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指示（プロンプト）の質で結果が大きく変わる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目的・前提・出力形式をはっきり伝える（第2章）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計算や厳密な集計は苦手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計算は Excel の数式に任せ、AIには数式を作らせる（第6章）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480000"/>
            <a:ext cx="5700000" cy="1650000"/>
          </a:xfrm>
          <a:prstGeom prst="roundRect">
            <a:avLst>
              <a:gd name="adj" fmla="val 6000"/>
            </a:avLst>
          </a:prstGeom>
          <a:solidFill>
            <a:srgbClr val="004D88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ja-JP" altLang="en-US" sz="13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営業での原則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AIは「下書き担当」「壁打ち相手」。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最終確認と判断は、必ず人が行う。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6230000" y="4480000"/>
            <a:ext cx="3346000" cy="165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50000" tIns="91440" rIns="1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必ず確認する4つ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30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4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数字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30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4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固有名詞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30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4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日付・曜日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30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4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出典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>
                <a:latin typeface="Noto Sans JP"/>
                <a:ea typeface="Noto Sans JP"/>
                <a:cs typeface="Noto Sans JP"/>
                <a:sym typeface="Noto Sans JP"/>
              </a:rPr>
              <a:t>ミニ演習：同じ質問を聞き比べる（約5分）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15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 txBox="1"/>
          <p:nvPr/>
        </p:nvSpPr>
        <p:spPr>
          <a:xfrm>
            <a:off x="1010000" y="1150000"/>
            <a:ext cx="39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アプリで新しいチャットを開き、質問Aを入力する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30000" y="200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1010000" y="2000000"/>
            <a:ext cx="39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隣の人と答えを見比べる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30000" y="285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1010000" y="2850000"/>
            <a:ext cx="39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「再生成」して、もう一度比べる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30000" y="370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1010000" y="3700000"/>
            <a:ext cx="39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言い回しを変えた質問Bを入力し、答えの変化を見る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5130000" y="1080000"/>
            <a:ext cx="44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質問A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5130000" y="1420000"/>
            <a:ext cx="4446000" cy="62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60000" tIns="45720" rIns="16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営業の仕事で一番大切なことは？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5130000" y="2230000"/>
            <a:ext cx="44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質問B（言い回しを変える）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5130000" y="2570000"/>
            <a:ext cx="4446000" cy="115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60000" tIns="45720" rIns="160000" bIns="45720" anchor="ctr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法人向け研修の営業担当者が成果を出すために最も重要なことを1つ、理由とともに教えてください。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330000" y="4700000"/>
            <a:ext cx="9246000" cy="14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考えるポイント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なぜ同じ質問でも答えが変わるのか？（→ 1.2 の仕組み）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質問Aと質問B、仕事で使いやすい答えはどちらか？ 何が違ったか？（→ 第2章 プロンプトの4要素）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ifist_template_4x3">
  <a:themeElements>
    <a:clrScheme name="Edifist Learning PPT">
      <a:dk1>
        <a:srgbClr val="000000"/>
      </a:dk1>
      <a:lt1>
        <a:srgbClr val="FFFFFF"/>
      </a:lt1>
      <a:dk2>
        <a:srgbClr val="0078C1"/>
      </a:dk2>
      <a:lt2>
        <a:srgbClr val="FFFFFF"/>
      </a:lt2>
      <a:accent1>
        <a:srgbClr val="B4E2FF"/>
      </a:accent1>
      <a:accent2>
        <a:srgbClr val="F4708F"/>
      </a:accent2>
      <a:accent3>
        <a:srgbClr val="F67D04"/>
      </a:accent3>
      <a:accent4>
        <a:srgbClr val="32B032"/>
      </a:accent4>
      <a:accent5>
        <a:srgbClr val="00B0F0"/>
      </a:accent5>
      <a:accent6>
        <a:srgbClr val="C00000"/>
      </a:accent6>
      <a:hlink>
        <a:srgbClr val="99CCFF"/>
      </a:hlink>
      <a:folHlink>
        <a:srgbClr val="CCCCCC"/>
      </a:folHlink>
    </a:clrScheme>
    <a:fontScheme name="Edifist Learning PPT">
      <a:majorFont>
        <a:latin typeface="Segoe UI"/>
        <a:ea typeface="メイリオ"/>
        <a:cs typeface=""/>
      </a:majorFont>
      <a:minorFont>
        <a:latin typeface="Segoe UI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D9F1FF"/>
        </a:solidFill>
        <a:ln>
          <a:noFill/>
        </a:ln>
      </a:spPr>
      <a:bodyPr rtlCol="0" anchor="ctr"/>
      <a:lstStyle>
        <a:defPPr algn="ctr">
          <a:defRPr kumimoji="1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​​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A948D230053DA428BBAD5466068956A" ma:contentTypeVersion="23" ma:contentTypeDescription="Create a new document." ma:contentTypeScope="" ma:versionID="9549d2c8580240ad2e326de5a195a52b">
  <xsd:schema xmlns:xsd="http://www.w3.org/2001/XMLSchema" xmlns:xs="http://www.w3.org/2001/XMLSchema" xmlns:p="http://schemas.microsoft.com/office/2006/metadata/properties" xmlns:ns2="a89807d4-1ba8-41f4-a3ce-791349375d6f" xmlns:ns3="eeb9a8be-d17f-4ca8-aaf0-c6d24b141b0f" targetNamespace="http://schemas.microsoft.com/office/2006/metadata/properties" ma:root="true" ma:fieldsID="29ce8ecc915fe817fca3a73ff4c36f99" ns2:_="" ns3:_="">
    <xsd:import namespace="a89807d4-1ba8-41f4-a3ce-791349375d6f"/>
    <xsd:import namespace="eeb9a8be-d17f-4ca8-aaf0-c6d24b141b0f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AutoKeyPoints" minOccurs="0"/>
                <xsd:element ref="ns3:MediaServiceKeyPoints" minOccurs="0"/>
                <xsd:element ref="ns3:_Flow_SignoffStatus" minOccurs="0"/>
                <xsd:element ref="ns3:MediaServiceLocation" minOccurs="0"/>
                <xsd:element ref="ns3:MediaLengthInSeconds" minOccurs="0"/>
                <xsd:element ref="ns3:lcf76f155ced4ddcb4097134ff3c332f" minOccurs="0"/>
                <xsd:element ref="ns2:TaxCatchAll" minOccurs="0"/>
                <xsd:element ref="ns3:_x5916__x90e8__x30a2__x30af__x30bb__x30b9__x8a31__x53ef_" minOccurs="0"/>
                <xsd:element ref="ns3:MediaServiceObjectDetectorVersions" minOccurs="0"/>
                <xsd:element ref="ns3:update" minOccurs="0"/>
                <xsd:element ref="ns3:MediaServiceSearchProperties" minOccurs="0"/>
                <xsd:element ref="ns3:Thumbnail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89807d4-1ba8-41f4-a3ce-791349375d6f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4" nillable="true" ma:displayName="Taxonomy Catch All Column" ma:hidden="true" ma:list="{e95fe1e3-8eed-4495-b540-ce0349f65ab2}" ma:internalName="TaxCatchAll" ma:showField="CatchAllData" ma:web="a89807d4-1ba8-41f4-a3ce-791349375d6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eb9a8be-d17f-4ca8-aaf0-c6d24b141b0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_Flow_SignoffStatus" ma:index="19" nillable="true" ma:displayName="Sign-off status" ma:internalName="Sign_x002d_off_x0020_status">
      <xsd:simpleType>
        <xsd:restriction base="dms:Text"/>
      </xsd:simpleType>
    </xsd:element>
    <xsd:element name="MediaServiceLocation" ma:index="20" nillable="true" ma:displayName="Location" ma:internalName="MediaServiceLocation" ma:readOnly="true">
      <xsd:simpleType>
        <xsd:restriction base="dms:Text"/>
      </xsd:simpleType>
    </xsd:element>
    <xsd:element name="MediaLengthInSeconds" ma:index="21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3" nillable="true" ma:taxonomy="true" ma:internalName="lcf76f155ced4ddcb4097134ff3c332f" ma:taxonomyFieldName="MediaServiceImageTags" ma:displayName="Image Tags" ma:readOnly="false" ma:fieldId="{5cf76f15-5ced-4ddc-b409-7134ff3c332f}" ma:taxonomyMulti="true" ma:sspId="ba39e902-fa48-45d0-b282-97a572fa01c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_x5916__x90e8__x30a2__x30af__x30bb__x30b9__x8a31__x53ef_" ma:index="25" nillable="true" ma:displayName="外部アクセス許可" ma:format="Dropdown" ma:list="UserInfo" ma:SharePointGroup="0" ma:internalName="_x5916__x90e8__x30a2__x30af__x30bb__x30b9__x8a31__x53ef_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ediaServiceObjectDetectorVersions" ma:index="26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update" ma:index="27" nillable="true" ma:displayName="update" ma:format="DateTime" ma:internalName="update">
      <xsd:simpleType>
        <xsd:restriction base="dms:DateTime"/>
      </xsd:simpleType>
    </xsd:element>
    <xsd:element name="MediaServiceSearchProperties" ma:index="28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Thumbnail" ma:index="29" nillable="true" ma:displayName="Thumbnail" ma:format="Dropdown" ma:internalName="Thumbnail">
      <xsd:simpleType>
        <xsd:restriction base="dms:Text">
          <xsd:maxLength value="255"/>
        </xsd:restriction>
      </xsd:simpleType>
    </xsd:element>
    <xsd:element name="MediaServiceBillingMetadata" ma:index="30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x5916__x90e8__x30a2__x30af__x30bb__x30b9__x8a31__x53ef_ xmlns="eeb9a8be-d17f-4ca8-aaf0-c6d24b141b0f">
      <UserInfo>
        <DisplayName/>
        <AccountId xsi:nil="true"/>
        <AccountType/>
      </UserInfo>
    </_x5916__x90e8__x30a2__x30af__x30bb__x30b9__x8a31__x53ef_>
    <lcf76f155ced4ddcb4097134ff3c332f xmlns="eeb9a8be-d17f-4ca8-aaf0-c6d24b141b0f">
      <Terms xmlns="http://schemas.microsoft.com/office/infopath/2007/PartnerControls"/>
    </lcf76f155ced4ddcb4097134ff3c332f>
    <_Flow_SignoffStatus xmlns="eeb9a8be-d17f-4ca8-aaf0-c6d24b141b0f" xsi:nil="true"/>
    <TaxCatchAll xmlns="a89807d4-1ba8-41f4-a3ce-791349375d6f" xsi:nil="true"/>
    <update xmlns="eeb9a8be-d17f-4ca8-aaf0-c6d24b141b0f" xsi:nil="true"/>
    <Thumbnail xmlns="eeb9a8be-d17f-4ca8-aaf0-c6d24b141b0f" xsi:nil="true"/>
  </documentManagement>
</p:properties>
</file>

<file path=customXml/itemProps1.xml><?xml version="1.0" encoding="utf-8"?>
<ds:datastoreItem xmlns:ds="http://schemas.openxmlformats.org/officeDocument/2006/customXml" ds:itemID="{83D937AD-3664-4ED1-92E9-ECCF8EACC95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89807d4-1ba8-41f4-a3ce-791349375d6f"/>
    <ds:schemaRef ds:uri="eeb9a8be-d17f-4ca8-aaf0-c6d24b141b0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179880C3-F8EF-45EC-A024-C535D9D279D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8687072-7BCC-4B16-A757-D6472EF0541C}">
  <ds:schemaRefs>
    <ds:schemaRef ds:uri="eeb9a8be-d17f-4ca8-aaf0-c6d24b141b0f"/>
    <ds:schemaRef ds:uri="http://schemas.microsoft.com/office/2006/documentManagement/types"/>
    <ds:schemaRef ds:uri="http://schemas.microsoft.com/office/infopath/2007/PartnerControls"/>
    <ds:schemaRef ds:uri="http://purl.org/dc/dcmitype/"/>
    <ds:schemaRef ds:uri="http://schemas.openxmlformats.org/package/2006/metadata/core-properties"/>
    <ds:schemaRef ds:uri="http://purl.org/dc/elements/1.1/"/>
    <ds:schemaRef ds:uri="http://www.w3.org/XML/1998/namespace"/>
    <ds:schemaRef ds:uri="a89807d4-1ba8-41f4-a3ce-791349375d6f"/>
    <ds:schemaRef ds:uri="http://schemas.microsoft.com/office/2006/metadata/propertie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428</TotalTime>
  <Words>258</Words>
  <Application>Microsoft Office PowerPoint</Application>
  <PresentationFormat>A4 210 x 297 mm</PresentationFormat>
  <Paragraphs>70</Paragraphs>
  <Slides>18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18</vt:i4>
      </vt:variant>
    </vt:vector>
  </HeadingPairs>
  <TitlesOfParts>
    <vt:vector size="26" baseType="lpstr">
      <vt:lpstr>Noto Sans JP</vt:lpstr>
      <vt:lpstr>メイリオ</vt:lpstr>
      <vt:lpstr>Arial</vt:lpstr>
      <vt:lpstr>Calibri</vt:lpstr>
      <vt:lpstr>Segoe UI</vt:lpstr>
      <vt:lpstr>Segoe UI Semibold</vt:lpstr>
      <vt:lpstr>Wingdings</vt:lpstr>
      <vt:lpstr>edifist_template_4x3</vt:lpstr>
      <vt:lpstr>タイトル</vt:lpstr>
      <vt:lpstr>目次</vt:lpstr>
      <vt:lpstr>１</vt:lpstr>
      <vt:lpstr>1.1</vt:lpstr>
      <vt:lpstr>1.2</vt:lpstr>
      <vt:lpstr>２</vt:lpstr>
      <vt:lpstr>2.1 </vt:lpstr>
      <vt:lpstr>2.2</vt:lpstr>
      <vt:lpstr>2.3</vt:lpstr>
      <vt:lpstr>PowerPoint プレゼンテーション</vt:lpstr>
      <vt:lpstr>３．</vt:lpstr>
      <vt:lpstr>3. 1</vt:lpstr>
      <vt:lpstr>４．</vt:lpstr>
      <vt:lpstr>4.1</vt:lpstr>
      <vt:lpstr>4.2 概算費用見積もり</vt:lpstr>
      <vt:lpstr>Apendix． </vt:lpstr>
      <vt:lpstr>生成AI導入に伴うシラバス・学習形態の整理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柏木 純菜</dc:creator>
  <cp:lastModifiedBy>高橋 栄司</cp:lastModifiedBy>
  <cp:revision>10</cp:revision>
  <cp:lastPrinted>2024-12-18T07:08:35Z</cp:lastPrinted>
  <dcterms:created xsi:type="dcterms:W3CDTF">2014-08-21T10:38:31Z</dcterms:created>
  <dcterms:modified xsi:type="dcterms:W3CDTF">2026-03-11T00:21:17Z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0x0101007A948D230053DA428BBAD5466068956A</vt:lpwstr>
  </property>
  <property fmtid="{D5CDD505-2E9C-101B-9397-08002B2CF9AE}" pid="3" name="Order">
    <vt:r8>10313200</vt:r8>
  </property>
  <property fmtid="{D5CDD505-2E9C-101B-9397-08002B2CF9AE}" pid="4" name="MediaServiceImageTags">
    <vt:lpwstr/>
  </property>
</Properties>
</file>