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  <p:sldId id="389" r:id="rIdS89"/>
    <p:sldId id="390" r:id="rIdS90"/>
    <p:sldId id="391" r:id="rIdS91"/>
    <p:sldId id="392" r:id="rIdS92"/>
    <p:sldId id="393" r:id="rIdS93"/>
    <p:sldId id="394" r:id="rIdS94"/>
    <p:sldId id="395" r:id="rIdS95"/>
    <p:sldId id="396" r:id="rIdS96"/>
    <p:sldId id="397" r:id="rIdS97"/>
    <p:sldId id="398" r:id="rIdS98"/>
    <p:sldId id="399" r:id="rIdS99"/>
    <p:sldId id="400" r:id="rIdS100"/>
    <p:sldId id="401" r:id="rIdS101"/>
    <p:sldId id="402" r:id="rIdS102"/>
    <p:sldId id="403" r:id="rIdS103"/>
    <p:sldId id="404" r:id="rIdS104"/>
    <p:sldId id="405" r:id="rIdS105"/>
    <p:sldId id="406" r:id="rIdS106"/>
    <p:sldId id="407" r:id="rIdS107"/>
    <p:sldId id="408" r:id="rIdS108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Relationship Id="rIdS89" Type="http://schemas.openxmlformats.org/officeDocument/2006/relationships/slide" Target="slides/slide89.xml"/><Relationship Id="rIdS90" Type="http://schemas.openxmlformats.org/officeDocument/2006/relationships/slide" Target="slides/slide90.xml"/><Relationship Id="rIdS91" Type="http://schemas.openxmlformats.org/officeDocument/2006/relationships/slide" Target="slides/slide91.xml"/><Relationship Id="rIdS92" Type="http://schemas.openxmlformats.org/officeDocument/2006/relationships/slide" Target="slides/slide92.xml"/><Relationship Id="rIdS93" Type="http://schemas.openxmlformats.org/officeDocument/2006/relationships/slide" Target="slides/slide93.xml"/><Relationship Id="rIdS94" Type="http://schemas.openxmlformats.org/officeDocument/2006/relationships/slide" Target="slides/slide94.xml"/><Relationship Id="rIdS95" Type="http://schemas.openxmlformats.org/officeDocument/2006/relationships/slide" Target="slides/slide95.xml"/><Relationship Id="rIdS96" Type="http://schemas.openxmlformats.org/officeDocument/2006/relationships/slide" Target="slides/slide96.xml"/><Relationship Id="rIdS97" Type="http://schemas.openxmlformats.org/officeDocument/2006/relationships/slide" Target="slides/slide97.xml"/><Relationship Id="rIdS98" Type="http://schemas.openxmlformats.org/officeDocument/2006/relationships/slide" Target="slides/slide98.xml"/><Relationship Id="rIdS99" Type="http://schemas.openxmlformats.org/officeDocument/2006/relationships/slide" Target="slides/slide99.xml"/><Relationship Id="rIdS100" Type="http://schemas.openxmlformats.org/officeDocument/2006/relationships/slide" Target="slides/slide100.xml"/><Relationship Id="rIdS101" Type="http://schemas.openxmlformats.org/officeDocument/2006/relationships/slide" Target="slides/slide101.xml"/><Relationship Id="rIdS102" Type="http://schemas.openxmlformats.org/officeDocument/2006/relationships/slide" Target="slides/slide102.xml"/><Relationship Id="rIdS103" Type="http://schemas.openxmlformats.org/officeDocument/2006/relationships/slide" Target="slides/slide103.xml"/><Relationship Id="rIdS104" Type="http://schemas.openxmlformats.org/officeDocument/2006/relationships/slide" Target="slides/slide104.xml"/><Relationship Id="rIdS105" Type="http://schemas.openxmlformats.org/officeDocument/2006/relationships/slide" Target="slides/slide105.xml"/><Relationship Id="rIdS106" Type="http://schemas.openxmlformats.org/officeDocument/2006/relationships/slide" Target="slides/slide106.xml"/><Relationship Id="rIdS107" Type="http://schemas.openxmlformats.org/officeDocument/2006/relationships/slide" Target="slides/slide107.xml"/><Relationship Id="rIdS108" Type="http://schemas.openxmlformats.org/officeDocument/2006/relationships/slide" Target="slides/slide10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C（入力不可）の情報が中心なら、その場面は個人契約の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個人契約の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個人契約の Copilot 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16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「佐藤」を先に置き換えると「美和」が残る。置き換えの対応表は手元で管理し、Copilot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演習7・8：議事録送付メール・社内報告・確認事項の一覧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演習7（20分）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議事録と Next Action の送付メール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議事録を開いて、送付メールを依頼する（宛先：佐藤様、CC：田中様）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未確定事項を、未確定と分かるように書かせる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金額・日付・曜日・社名の表記を確認する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に貼り付けて保存（実際には送信しない）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3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演習8（25分）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社内報告・行動リスト・確認事項の一覧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上長への報告を「結論 → ポイント → 相談 → 次の一手」で作らせる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受注確度は自分で決めて直す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行動リスト（期限は具体的な日付）を作る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確認事項の一覧（未定は「未定」のまま）を作る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7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確認事項の一覧に入る3点（商談で高橋が挙げたもの）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 対象20名の Copilot 利用可否　② A案の場合の受講後のフォロー担当　③ 予算承認の状況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手順：03_演習ガイド「演習7」「演習8」／解答例：解答例_演習7_8_議事録送付メール_社内報告.docx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1 の振り返り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今日できるようになったこと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199000" cy="11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出典を開いて確認する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79000" y="1420000"/>
            <a:ext cx="2199000" cy="110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A／B／C で判定し、マスキングする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28000" y="1420000"/>
            <a:ext cx="2199000" cy="11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まとめる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文字起こしから議事録を作る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77000" y="1420000"/>
            <a:ext cx="2199000" cy="11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伝える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メール・社内報告・確認事項に書き分ける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1人3分で共有する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5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70000" y="315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一番の気付きは？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377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970000" y="377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明日から自分の仕事で使うことを1つ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43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970000" y="439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まだ不安なこと・分からないこと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5100000"/>
            <a:ext cx="9246000" cy="85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明日の朝は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セキュリティ確認クイズ（5問）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から始める。Day 2 は分析・概算・提案書・上長説明用の1枚を仕上げる。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2 の流れ：提案一式を仕上げる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7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実績の分析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A案・B案の概算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第7章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第8章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提案スライド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の紹介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応用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自分の業務への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応用プラン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50000"/>
            <a:ext cx="9246000" cy="15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10/16（金）14:00 にみらい商事へ持っていくもの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A案・B案の提案書と概算 ／ 上長説明用の1枚 ／ 確認事項の一覧（Day 1 の演習8）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午後の第9・10章（パートB）では、Day 1〜2 で繰り返した作業をアプリにする考え方と、自分の業務への応用を考える。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950000"/>
            <a:ext cx="92460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前日の成果物（議事録・メール・確認事項の一覧）がそろっていない人は、解答例を使って進めてよい。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の復習。口頭で答え、理由も一言添える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顧客のホームページに載っている従業員数は、Copilot に入力してよい？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社名・担当者名が入った文字起こしを、議事録作成のために個人契約の Copilot に渡してよい？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が作った議事録の「決定事項」は、そのまま顧客に送ってよい？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検索つきの回答に出典リンクがあれば、内容は正しいと考えてよい？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個人契約の Copilot（Premium）で、会社の実際の顧客データを扱ってよい？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　解答：セキュリティ確認クイズ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よい（A）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公開情報。ただし他の情報と組み合わせると社名が特定される点に注意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置き換えてから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社名・氏名を記号に置き換えて使う（B）。本研修の環境のルール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自分の記録と照合する。推測で「決定事項」が作られることがある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原則よくない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会社のルールに従う。原則として法人契約の環境で扱う（契約でデータ保護が異なる）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６．Excel × Copilot：分析と概算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6.1 Excel で Copilot を使う前の準備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テーブルにする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挿入 → テーブル。見出しは1行、結合セルは使わない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意味の分かる列名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4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「列1」ではなく「満足度」「事後フォロー」など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3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自動保存をオンにする（ローカル保存では使えない場合がある）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品質を先に確認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2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表記ゆれ・空欄を Copilot に聞いてから分析する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悪い例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見出しが2行に分かれ、セルが結合されている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「卸売」「卸売業」が混在している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空欄を「-」や「なし」で埋めている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ファイルがデスクトップに保存されている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→ Copilot が表を正しく読めず、集計がずれる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48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04_研修実績データ.xlsx（当社の2023〜2025年度の架空の実績160件）／05_見積単価表.xlsx（単価表・含まないもの・見積試算）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○（そのまま分析してよい）／×（先に直す）で答え、直し方を一言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シートの状態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1行目に見出し、2行目から1件1行。テーブル化済み。OneDrive に保存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見出しが2行に分かれ、「実施形式」のセルが結合されている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テーブル化したが、デスクトップに保存していて自動保存がオフ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「業種」列に「卸売」と「卸売業」が混在している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列名が「列1」「列2」…のまま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　解答：このシートは分析できる？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準備が整っている。まず品質確認（表記ゆれ・空欄）から始める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見出しを1行にし、結合を解除してからテーブル化する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に保存して自動保存をオンにする（Copilot が使えない場合がある）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表記をそろえる。そのままだと集計が2つに分かれる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「満足度」「事後フォロー」など意味の分かる列名にする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の分析は表の品質で決まる。「分析の前に直したほうがよい点は？」と聞くのも有効。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6.2 Excel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7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データの概要をつかむ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「このデータから分かる傾向を3つ教えて」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データの品質を確認する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「分析の前に直したほうがよい点（表記のゆれ、空欄など）はある？」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集計・比較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「事後フォローの有無で、1か月後活用率の平均を比較して。件数も示して」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数式列の追加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「受講者1人あたり受講料の列を追加して」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強調表示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「満足度が4.5以上の行を強調して」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グラフ・ピボット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「実施形式ごとの満足度をグラフにして」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数式の説明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「この数式が何をしているか説明して」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文章の分類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「自由記述を内容でグループ分けして、件数を数えて」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85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オレンジの行（品質の確認）を、分析の最初に必ず行う。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6-2：Copilot への依頼文を書く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やりたいことを Excel の Copilot への依頼文にする（1文でよい）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600000"/>
                <a:gridCol w="5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事後フォローの有無で、1か月後活用率の平均を比べたい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受講者1名あたりの金額の列を足したい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が作った数式の意味を知りたい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自由記述のコメントをグループ分けしたい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　解答：依頼文の例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「事後フォローの有無別に、1か月後活用率の平均と件数を表にして」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件数も出させる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「受講者数で金額を割った『1名あたり金額』の列を追加して」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計算方法と列名を指定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「この数式が何を計算しているか、セル範囲も含めて説明して」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説明を読んで自分で確認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「自由記述を内容で5つ程度のグループに分け、件数も数えて」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グループ数の目安と件数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「比べる軸」「出す数字（平均・件数）」「出力の形（表・列）」を入れると、そのまま使える結果になりやすい。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6.3 分析結果を使うときの注意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の集計は、ピボットテーブルや関数で自分でも確かめる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件数（n数）を見る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平均の差だけで判断しない。件数が少ないと偶然の差かもしれない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傾向と効果を分ける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「差がある」は傾向。他の要因が混ざっていることもあり、効果の証明ではない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お金の計算は一行ずつ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見積の数式は Copilot に作らせ、人が意味を読んで確認する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商談の方針と同じ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「作業時間を測る場合は条件を揃えて実測し、削減時間をそのまま人件費削減や売上増には換算しません」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初回訪問での高橋の説明（佐藤様「社内でも数字の出し方は慎重にしたい」）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提案書に載せる数字は、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自分で検算し、傾向として控えめに書く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○（書いてよい）／×（書き直す）で答え、理由を一言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提案書に書こうとしている文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「事後フォローを行うと、活用率が19ポイント上がる」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「生成AI×営業職の研修でも、フォローありのほうが活用率が高い傾向（17件と15件）」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「Copilot の集計結果なので、検算は不要」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「研修の効果で、年間○○万円の人件費が削減できる」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　解答：提案書に書いてよい一文か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理由・書き直し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傾向を効果と言い切っている。「高い傾向がある（約62%・約43%）」と書く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傾向として書き、件数も示している。件数が少ない点は補足するとよい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ピボットテーブルや関数で同じ数字になるか、自分で確かめる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商談で「削減時間を人件費削減に換算しない」と説明済み。方針と矛盾する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過去実績は研修ごとに条件が違う。「比べた数字」「件数」「傾向」の3点をそろえて書く。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6.4 A案・B案の概算の組み立て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研修部分は共通。違いは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追加支援（事前診断・活用フォロー）の有無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だけ。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30000" y="160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180000" y="160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780000" y="160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420000" y="1600000"/>
            <a:ext cx="515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600,000円（1名 30,000円）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180000" y="275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780000" y="275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300000" y="2750000"/>
            <a:ext cx="1040000" cy="700000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40000" y="2750000"/>
            <a:ext cx="1040000" cy="7000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6500000" y="2750000"/>
            <a:ext cx="307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1,000,000円（1名 50,000円）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B案の追加分（差額40万円）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 20万円：事前の簡易アンケートと重点整理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 20万円：活用シート回収・整理、オンライン振り返り1回、担当者向け簡易報告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見積に含まないもの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会場・端末・必要なライセンス（みらい商事で手配）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無制限の個別相談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アプリ開発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金額はすべて税抜。予算の目安100万円は承認前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6-4：概算を検算する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05_見積単価表の単価で計算する（税抜）。電卓を使ってよい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A案・20名（集合研修1クラス＋教材）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B案・20名（A案＋事前診断＋活用フォロー）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A案とB案の差額、B案の1名あたり金額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受講者が24名に増えた場合のA案・B案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単価：集合研修 500,000円／1クラス（20名まで）、教材 5,000円／名、事前診断 200,000円、活用フォロー 200,000円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　解答：概算の検算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200000"/>
                <a:gridCol w="5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500,000 ＋ 5,000×20 ＝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 ＋ 200,000 ＋ 200,000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差額 400,000円／1名 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1,000,000 − 600,000、1,000,000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1,120,000円／B 1,520,000円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20名を超えると2クラス：500,000×2 ＋ 5,000×24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はクラス数の見落としに注意。予算の目安（100万円）を超えるため、条件が変わったら必ず相談する。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演習9：研修実績データの分析（40分）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表記ゆれ（卸売／情報通信）と空欄を見つけて直す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全体の傾向をつかむ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「このデータから分かる傾向を3つ」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B案の説明材料を探す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事後フォロー・事前診断の有無で比較（件数も）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ピボットテーブルで同じ数字になるか確かめる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自由記述を分類する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5つ程度のグループと件数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提案に使う一文を作る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傾向として控えめに書く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「当社の2023〜2025年度の実績160件では、受講後の活用フォローを行った研修の1か月後活用率は約62%で、行わなかった研修（約43%）より高い傾向がある」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「必ず○%上がる」とは書かない。実施条件が研修ごとに違うため、傾向であり効果の証明ではない。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演習10：A案・B案の概算見積（30分）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80000"/>
          <a:ext cx="5300000" cy="2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00000"/>
                <a:gridCol w="1500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集合研修（2日間）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5930000" y="1080000"/>
            <a:ext cx="3646000" cy="26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手順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前提条件（B列＝A案、C列＝B案）を入力する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数量と金額の数式を Copilot と作る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A案の合計を電卓で検算する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差額と、予算の目安との差を表示する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商談で伝えた金額と照合する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350000"/>
            <a:ext cx="5300000" cy="13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照合する金額（商談で伝えたもの）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600,000円（1名 30,000円）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 1,000,000円（1名 50,000円）／差額 400,000円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900000"/>
            <a:ext cx="9246000" cy="10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よくある誤り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事前診断・活用フォローを A案にも入れてしまう／受講者数を変えたときにクラス数（1クラス20名まで）を変え忘れる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素材：05_見積単価表.xlsx／解答例：解答例_演習10_見積試算.xlsx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